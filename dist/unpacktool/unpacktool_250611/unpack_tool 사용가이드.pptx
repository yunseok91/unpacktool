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5" r:id="rId10"/>
    <p:sldId id="264" r:id="rId11"/>
    <p:sldId id="267" r:id="rId12"/>
    <p:sldId id="266" r:id="rId13"/>
  </p:sldIdLst>
  <p:sldSz cx="18288000" cy="10287000"/>
  <p:notesSz cx="6858000" cy="9144000"/>
  <p:embeddedFontLst>
    <p:embeddedFont>
      <p:font typeface="Pretendard Bold" panose="020B0600000101010101" charset="-127"/>
      <p:bold r:id="rId15"/>
    </p:embeddedFont>
    <p:embeddedFont>
      <p:font typeface="Pretendard Medium" panose="020B0600000101010101" charset="-127"/>
      <p:bold r:id="rId16"/>
    </p:embeddedFont>
    <p:embeddedFont>
      <p:font typeface="Pretendard Regular" panose="020B0600000101010101" charset="-127"/>
      <p:regular r:id="rId17"/>
    </p:embeddedFont>
    <p:embeddedFont>
      <p:font typeface="Pretendard SemiBold" panose="020B0600000101010101" charset="-127"/>
      <p:bold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96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1C7C7-9B11-41BA-8C2B-EE77497D1331}" type="datetimeFigureOut">
              <a:rPr lang="ko-KR" altLang="en-US" smtClean="0"/>
              <a:t>2025-07-14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D0176-60E8-4BBC-A5D6-F15B6E30AA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21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0176-60E8-4BBC-A5D6-F15B6E30AA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28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D0176-60E8-4BBC-A5D6-F15B6E30AA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37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3.png"/><Relationship Id="rId5" Type="http://schemas.openxmlformats.org/officeDocument/2006/relationships/image" Target="../media/image5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7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1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10" Type="http://schemas.openxmlformats.org/officeDocument/2006/relationships/image" Target="../media/image42.png"/><Relationship Id="rId4" Type="http://schemas.openxmlformats.org/officeDocument/2006/relationships/image" Target="../media/image7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6.png"/><Relationship Id="rId5" Type="http://schemas.openxmlformats.org/officeDocument/2006/relationships/image" Target="../media/image2.pn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1.png"/><Relationship Id="rId3" Type="http://schemas.openxmlformats.org/officeDocument/2006/relationships/image" Target="../media/image49.png"/><Relationship Id="rId7" Type="http://schemas.openxmlformats.org/officeDocument/2006/relationships/image" Target="../media/image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8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3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5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5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4600" y="3987800"/>
            <a:ext cx="156718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9000" b="0" i="0" u="none" strike="noStrike" dirty="0">
                <a:solidFill>
                  <a:srgbClr val="0063BA"/>
                </a:solidFill>
                <a:latin typeface="Pretendard Bold"/>
              </a:rPr>
              <a:t>Unpacked Tool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54400" y="9256499"/>
            <a:ext cx="14351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200" b="0" i="0" u="none" strike="noStrike">
                <a:solidFill>
                  <a:srgbClr val="000000"/>
                </a:solidFill>
                <a:ea typeface="Pretendard Regular"/>
              </a:rPr>
              <a:t>이윤석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588500"/>
            <a:ext cx="16903700" cy="12700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3C31A28D-54BD-D375-8F6B-0B89C88E0BAB}"/>
              </a:ext>
            </a:extLst>
          </p:cNvPr>
          <p:cNvSpPr txBox="1"/>
          <p:nvPr/>
        </p:nvSpPr>
        <p:spPr>
          <a:xfrm>
            <a:off x="1657350" y="7540198"/>
            <a:ext cx="156718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r">
              <a:lnSpc>
                <a:spcPct val="99600"/>
              </a:lnSpc>
            </a:pPr>
            <a:r>
              <a:rPr lang="en-US" altLang="ko-KR" sz="2000" b="1" dirty="0">
                <a:solidFill>
                  <a:srgbClr val="FF0000"/>
                </a:solidFill>
                <a:latin typeface="Pretendard Bold"/>
              </a:rPr>
              <a:t>※ Web Driver : ver.133</a:t>
            </a:r>
            <a:r>
              <a:rPr lang="ko-KR" altLang="en-US" sz="2000" b="1" dirty="0">
                <a:solidFill>
                  <a:srgbClr val="FF0000"/>
                </a:solidFill>
                <a:latin typeface="Pretendard Bold"/>
              </a:rPr>
              <a:t>버전으로 빌드</a:t>
            </a:r>
            <a:r>
              <a:rPr lang="en-US" altLang="ko-KR" sz="2000" b="1" dirty="0">
                <a:solidFill>
                  <a:srgbClr val="FF0000"/>
                </a:solidFill>
                <a:latin typeface="Pretendard Bold"/>
              </a:rPr>
              <a:t>, </a:t>
            </a:r>
            <a:r>
              <a:rPr lang="ko-KR" altLang="en-US" sz="2000" b="1" dirty="0" err="1">
                <a:solidFill>
                  <a:srgbClr val="FF0000"/>
                </a:solidFill>
                <a:latin typeface="Pretendard Bold"/>
              </a:rPr>
              <a:t>보안룸</a:t>
            </a:r>
            <a:r>
              <a:rPr lang="ko-KR" altLang="en-US" sz="2000" b="1" dirty="0">
                <a:solidFill>
                  <a:srgbClr val="FF0000"/>
                </a:solidFill>
                <a:latin typeface="Pretendard Bold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Pretendard Bold"/>
              </a:rPr>
              <a:t>PC</a:t>
            </a:r>
            <a:r>
              <a:rPr lang="ko-KR" altLang="en-US" sz="2000" b="1" dirty="0">
                <a:solidFill>
                  <a:srgbClr val="FF0000"/>
                </a:solidFill>
                <a:latin typeface="Pretendard Bold"/>
              </a:rPr>
              <a:t>에 설치된 </a:t>
            </a:r>
            <a:r>
              <a:rPr lang="ko-KR" altLang="en-US" sz="2000" b="1" dirty="0" err="1">
                <a:solidFill>
                  <a:srgbClr val="FF0000"/>
                </a:solidFill>
                <a:latin typeface="Pretendard Bold"/>
              </a:rPr>
              <a:t>브라우져</a:t>
            </a:r>
            <a:r>
              <a:rPr lang="ko-KR" altLang="en-US" sz="2000" b="1" dirty="0">
                <a:solidFill>
                  <a:srgbClr val="FF0000"/>
                </a:solidFill>
                <a:latin typeface="Pretendard Bold"/>
              </a:rPr>
              <a:t> 버전이 맞는지 확인 상이하다면</a:t>
            </a:r>
            <a:r>
              <a:rPr lang="en-US" altLang="ko-KR" sz="2000" b="1" dirty="0">
                <a:solidFill>
                  <a:srgbClr val="FF0000"/>
                </a:solidFill>
                <a:latin typeface="Pretendard Bold"/>
              </a:rPr>
              <a:t>, </a:t>
            </a:r>
            <a:r>
              <a:rPr lang="ko-KR" altLang="en-US" sz="2000" b="1" dirty="0" err="1">
                <a:solidFill>
                  <a:srgbClr val="FF0000"/>
                </a:solidFill>
                <a:latin typeface="Pretendard Bold"/>
              </a:rPr>
              <a:t>재빌드해야함</a:t>
            </a:r>
            <a:r>
              <a:rPr lang="en-US" altLang="ko-KR" sz="2000" b="1" dirty="0">
                <a:solidFill>
                  <a:srgbClr val="FF0000"/>
                </a:solidFill>
                <a:latin typeface="Pretendard Bold"/>
              </a:rPr>
              <a:t>.</a:t>
            </a:r>
            <a:endParaRPr lang="en-US" sz="2000" b="1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206500"/>
            <a:ext cx="14376400" cy="774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206500"/>
            <a:ext cx="144018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300" y="1981200"/>
            <a:ext cx="144653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670300" y="1371600"/>
            <a:ext cx="137668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화면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버튼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설명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8500" y="1244600"/>
            <a:ext cx="2654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UI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98600" y="2108200"/>
            <a:ext cx="3492500" cy="92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1400" y="2108200"/>
            <a:ext cx="2933700" cy="927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506200" y="24130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Server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00200" y="2159000"/>
            <a:ext cx="32639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WWW :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라이브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서버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QA : QA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서버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 (ID,PWD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WMC : Cookie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값 입력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(login-token)</a:t>
            </a:r>
            <a:endParaRPr lang="en-US" sz="1400" b="0" i="0" u="none" strike="noStrike" dirty="0">
              <a:solidFill>
                <a:srgbClr val="000000"/>
              </a:solidFill>
              <a:highlight>
                <a:srgbClr val="FFFF00"/>
              </a:highlight>
              <a:latin typeface="Pretendard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11300" y="3073400"/>
            <a:ext cx="3492500" cy="927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4100" y="3073400"/>
            <a:ext cx="2933700" cy="927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1518900" y="33782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Web Browser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00200" y="3111500"/>
            <a:ext cx="340360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Chrome (Local) ver.137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웹드라이브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Edge(Local) ver.133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웹드라이브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Chrome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최신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드라이브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다운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11300" y="4051300"/>
            <a:ext cx="3492500" cy="469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88700" y="4051300"/>
            <a:ext cx="2933700" cy="457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518900" y="41275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Time Delay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74800" y="4140200"/>
            <a:ext cx="340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2 ~5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초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설정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 time.sleep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98600" y="4559300"/>
            <a:ext cx="3492500" cy="2171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01400" y="4572000"/>
            <a:ext cx="2933700" cy="2133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1506200" y="55753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Function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74800" y="4660900"/>
            <a:ext cx="3403600" cy="196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Home Redirection </a:t>
            </a:r>
          </a:p>
          <a:p>
            <a:pPr marL="5461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unpacked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리다이렉트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이동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  <a:p>
            <a:pPr marL="5461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○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Capture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홈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화면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캡쳐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Digital Data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Page Track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Navigation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Home KV CTA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추출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24000" y="7670800"/>
            <a:ext cx="3505200" cy="381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14100" y="7683500"/>
            <a:ext cx="2933700" cy="3810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1531600" y="77216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Upload File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74800" y="7708900"/>
            <a:ext cx="340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xlsx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파일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업로드만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가능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24000" y="8115300"/>
            <a:ext cx="3492500" cy="381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14100" y="8115300"/>
            <a:ext cx="2933700" cy="3810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1518900" y="81534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Run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274800" y="8153400"/>
            <a:ext cx="340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프로그램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24000" y="8572500"/>
            <a:ext cx="3492500" cy="3810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14100" y="8572500"/>
            <a:ext cx="2933700" cy="381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1518900" y="85979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Clear log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74800" y="8610600"/>
            <a:ext cx="340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log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삭제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24000" y="9004300"/>
            <a:ext cx="3492500" cy="3810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14100" y="9004300"/>
            <a:ext cx="2933700" cy="381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1531600" y="90297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Exit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274800" y="9042400"/>
            <a:ext cx="340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프로그램종료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24000" y="7226300"/>
            <a:ext cx="3492500" cy="381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01400" y="7239000"/>
            <a:ext cx="2933700" cy="3810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1557000" y="7277100"/>
            <a:ext cx="22098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Console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274800" y="7302500"/>
            <a:ext cx="3403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작업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진행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상황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224000" y="6781800"/>
            <a:ext cx="3492500" cy="3810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01400" y="6769100"/>
            <a:ext cx="2933700" cy="419100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11557000" y="68326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0063BA"/>
                </a:solidFill>
                <a:latin typeface="Pretendard SemiBold"/>
              </a:rPr>
              <a:t>Webdriver Hide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262100" y="6832600"/>
            <a:ext cx="2895600" cy="29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가상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>
                <a:solidFill>
                  <a:srgbClr val="000000"/>
                </a:solidFill>
                <a:ea typeface="Pretendard Regular"/>
              </a:rPr>
              <a:t>브라우져</a:t>
            </a:r>
            <a:r>
              <a:rPr lang="en-US" sz="1400" b="0" i="0" u="none" strike="noStrike">
                <a:solidFill>
                  <a:srgbClr val="000000"/>
                </a:solidFill>
                <a:latin typeface="Pretendard Regular"/>
              </a:rPr>
              <a:t> On/Off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321CC7E-7D4C-4E4C-0757-13E1C603B30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34646" y="2019300"/>
            <a:ext cx="7373539" cy="7772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E9B2-408A-17B9-BBA8-15F708648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2660628-922B-1B35-CFEA-41FA3542E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206500"/>
            <a:ext cx="14376400" cy="774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B15610F-DD16-60BC-9E54-F417952A1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B9E5406-3467-7362-8F7B-F885FFC52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578B60E-7DE4-CA59-88FC-B1B6867E5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206500"/>
            <a:ext cx="144018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86D6EE7-E898-6AAD-9BFC-99FBAE0CF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300" y="1981200"/>
            <a:ext cx="144653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05867E8-EEDE-A419-7990-230C771A1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820A217-150B-FACD-0188-CECC50198922}"/>
              </a:ext>
            </a:extLst>
          </p:cNvPr>
          <p:cNvSpPr txBox="1"/>
          <p:nvPr/>
        </p:nvSpPr>
        <p:spPr>
          <a:xfrm>
            <a:off x="3670300" y="1371600"/>
            <a:ext cx="137668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화면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버튼</a:t>
            </a: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400" b="0" i="0" u="none" strike="noStrike">
                <a:solidFill>
                  <a:srgbClr val="000000"/>
                </a:solidFill>
                <a:ea typeface="Pretendard Medium"/>
              </a:rPr>
              <a:t>설명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B2B0E7E-DA77-5BC2-A3B4-DB436FC9F576}"/>
              </a:ext>
            </a:extLst>
          </p:cNvPr>
          <p:cNvSpPr txBox="1"/>
          <p:nvPr/>
        </p:nvSpPr>
        <p:spPr>
          <a:xfrm>
            <a:off x="698500" y="1244600"/>
            <a:ext cx="2654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UI</a:t>
            </a:r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89ADF587-3272-0C77-F5BE-92249C566E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98600" y="2108200"/>
            <a:ext cx="3492500" cy="9271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6EF28C37-F55D-42D8-466B-619530B4FF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1400" y="2108200"/>
            <a:ext cx="2933700" cy="9271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2D462890-AF4B-80DD-25C9-B4F6F16444A6}"/>
              </a:ext>
            </a:extLst>
          </p:cNvPr>
          <p:cNvSpPr txBox="1"/>
          <p:nvPr/>
        </p:nvSpPr>
        <p:spPr>
          <a:xfrm>
            <a:off x="11506200" y="2413000"/>
            <a:ext cx="22479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700" dirty="0">
                <a:solidFill>
                  <a:srgbClr val="0063BA"/>
                </a:solidFill>
                <a:latin typeface="Pretendard SemiBold"/>
              </a:rPr>
              <a:t>Server</a:t>
            </a:r>
            <a:endParaRPr lang="en-US" sz="1700" b="0" i="0" u="none" strike="noStrike" dirty="0">
              <a:solidFill>
                <a:srgbClr val="0063BA"/>
              </a:solidFill>
              <a:latin typeface="Pretendard Semi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400B4A6-44FD-9FCF-55B0-9398881E9C9C}"/>
              </a:ext>
            </a:extLst>
          </p:cNvPr>
          <p:cNvSpPr txBox="1"/>
          <p:nvPr/>
        </p:nvSpPr>
        <p:spPr>
          <a:xfrm>
            <a:off x="14300200" y="2159000"/>
            <a:ext cx="3263900" cy="82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WWW :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라이브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서버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QA : QA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서버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 (ID,PWD </a:t>
            </a:r>
            <a:r>
              <a:rPr lang="ko-KR" sz="1400" b="0" i="0" u="none" strike="noStrike" dirty="0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1400" b="0" i="0" u="none" strike="noStrike" dirty="0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WMC : Cookie </a:t>
            </a:r>
            <a:r>
              <a:rPr lang="ko-KR" altLang="en-US" sz="1400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값 입력</a:t>
            </a:r>
            <a:r>
              <a:rPr lang="en-US" altLang="ko-KR" sz="1400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(login-token)</a:t>
            </a:r>
            <a:endParaRPr lang="en-US" sz="1400" b="0" i="0" u="none" strike="noStrike" dirty="0">
              <a:solidFill>
                <a:srgbClr val="000000"/>
              </a:solidFill>
              <a:highlight>
                <a:srgbClr val="FFFF00"/>
              </a:highlight>
              <a:latin typeface="Pretendard Regular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E1570664-2FB0-8103-FA0F-0E1B6646E9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4646" y="2019300"/>
            <a:ext cx="7373539" cy="77724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869EC84F-19D1-15C9-B42C-C99A1012E0F0}"/>
              </a:ext>
            </a:extLst>
          </p:cNvPr>
          <p:cNvGrpSpPr/>
          <p:nvPr/>
        </p:nvGrpSpPr>
        <p:grpSpPr>
          <a:xfrm>
            <a:off x="11197988" y="3253475"/>
            <a:ext cx="5687800" cy="5909572"/>
            <a:chOff x="11071557" y="3101362"/>
            <a:chExt cx="5687800" cy="5909572"/>
          </a:xfrm>
        </p:grpSpPr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665AC02A-8F12-B0C6-55C7-4FBB46D8A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076201" y="3441321"/>
              <a:ext cx="5546108" cy="28343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6E55AA2F-4B16-5495-CBBF-1EA24D160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071557" y="6336355"/>
              <a:ext cx="5687800" cy="267457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5797325-1935-49CF-5910-20ECF5905769}"/>
                </a:ext>
              </a:extLst>
            </p:cNvPr>
            <p:cNvSpPr/>
            <p:nvPr/>
          </p:nvSpPr>
          <p:spPr>
            <a:xfrm>
              <a:off x="11315700" y="4256947"/>
              <a:ext cx="381000" cy="3376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E58F7FB9-3492-D7E9-46D4-B52B5521899F}"/>
                </a:ext>
              </a:extLst>
            </p:cNvPr>
            <p:cNvSpPr/>
            <p:nvPr/>
          </p:nvSpPr>
          <p:spPr>
            <a:xfrm>
              <a:off x="12433134" y="7820154"/>
              <a:ext cx="394032" cy="33760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6" name="TextBox 14">
              <a:extLst>
                <a:ext uri="{FF2B5EF4-FFF2-40B4-BE49-F238E27FC236}">
                  <a16:creationId xmlns:a16="http://schemas.microsoft.com/office/drawing/2014/main" id="{B022E8E5-1AF3-5826-1005-9697CC911960}"/>
                </a:ext>
              </a:extLst>
            </p:cNvPr>
            <p:cNvSpPr txBox="1"/>
            <p:nvPr/>
          </p:nvSpPr>
          <p:spPr>
            <a:xfrm>
              <a:off x="11071557" y="3101362"/>
              <a:ext cx="1779896" cy="362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  <a:buClr>
                  <a:srgbClr val="000000"/>
                </a:buClr>
              </a:pPr>
              <a:r>
                <a:rPr lang="en-US" sz="1400" b="0" i="0" u="none" strike="noStrike" dirty="0">
                  <a:solidFill>
                    <a:srgbClr val="000000"/>
                  </a:solidFill>
                  <a:highlight>
                    <a:srgbClr val="FFFF00"/>
                  </a:highlight>
                  <a:latin typeface="Pretendard Regular"/>
                </a:rPr>
                <a:t>login-token </a:t>
              </a:r>
              <a:r>
                <a:rPr lang="ko-KR" altLang="en-US" sz="1400" b="0" i="0" u="none" strike="noStrike" dirty="0">
                  <a:solidFill>
                    <a:srgbClr val="000000"/>
                  </a:solidFill>
                  <a:highlight>
                    <a:srgbClr val="FFFF00"/>
                  </a:highlight>
                  <a:latin typeface="Pretendard Regular"/>
                </a:rPr>
                <a:t>확인 방법  </a:t>
              </a:r>
              <a:endParaRPr lang="en-US" sz="1400" b="0" i="0" u="none" strike="noStrike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095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5621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55600" y="1244600"/>
            <a:ext cx="30226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Function 1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968500"/>
            <a:ext cx="6527800" cy="6515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314700" y="9525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Home Redirection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095500"/>
            <a:ext cx="6337300" cy="6197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0" y="1955800"/>
            <a:ext cx="7467600" cy="6527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2400" y="2095500"/>
            <a:ext cx="3454400" cy="2527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93800" y="2590895"/>
            <a:ext cx="3340100" cy="1917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3600" y="2667000"/>
            <a:ext cx="774700" cy="330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12400" y="7721505"/>
            <a:ext cx="1854200" cy="381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312400" y="4851400"/>
            <a:ext cx="6946900" cy="2717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방법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)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1) Server : WWW or QA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2) 1.Home Redirectrion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3)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캡쳐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체크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(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선택사항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4)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첨부파일에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마지막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위치에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sheet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업로드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C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5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번째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URL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있어야함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5)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버튼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6) Export &gt; Home_Redirect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오류시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저장됩니다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 error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폴더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19200" y="2235295"/>
            <a:ext cx="33401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 dirty="0">
                <a:solidFill>
                  <a:srgbClr val="000000"/>
                </a:solidFill>
                <a:latin typeface="Pretendard Medium"/>
              </a:rPr>
              <a:t>Screen 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5621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55600" y="1244600"/>
            <a:ext cx="30226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Function 2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968500"/>
            <a:ext cx="6527800" cy="6515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314700" y="9525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Digital Data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0" y="1955800"/>
            <a:ext cx="7467600" cy="652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2500" y="2209800"/>
            <a:ext cx="6172200" cy="6045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3200" y="6747112"/>
            <a:ext cx="1371600" cy="393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2400" y="2209800"/>
            <a:ext cx="6172200" cy="812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86200" y="2197100"/>
            <a:ext cx="889000" cy="128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63200" y="3543300"/>
            <a:ext cx="7150100" cy="311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방법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)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1) Server : WWW or QA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2) 2.Digital Data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선택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3) 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첨부파일에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마지막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위치에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저장된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sheet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업로드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※ E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열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5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번째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URL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 err="1">
                <a:solidFill>
                  <a:srgbClr val="000000"/>
                </a:solidFill>
                <a:ea typeface="Pretendard Regular"/>
              </a:rPr>
              <a:t>있어야함</a:t>
            </a:r>
            <a:endParaRPr lang="ko-KR" sz="1600" b="0" i="0" u="none" strike="noStrike" dirty="0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4)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버튼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클릭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5)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노란색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음영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표시된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컬럼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대상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6) Export &gt; Digital Data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완료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※ Key Unknown :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값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없음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※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 err="1">
                <a:solidFill>
                  <a:srgbClr val="000000"/>
                </a:solidFill>
                <a:ea typeface="Pretendard Regular"/>
              </a:rPr>
              <a:t>오류시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저장됩니다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. error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폴더</a:t>
            </a:r>
            <a:r>
              <a:rPr lang="en-US" sz="1600" b="0" i="0" u="none" strike="noStrike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 dirty="0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5621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55600" y="1244600"/>
            <a:ext cx="30226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Function 3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968500"/>
            <a:ext cx="6527800" cy="6515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314700" y="9525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Page Track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0" y="1955800"/>
            <a:ext cx="7467600" cy="652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2500" y="2120900"/>
            <a:ext cx="6172200" cy="6045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4800" y="2108200"/>
            <a:ext cx="6172200" cy="2933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3200" y="7779034"/>
            <a:ext cx="1126671" cy="342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464800" y="5219700"/>
            <a:ext cx="7150100" cy="2489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방법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)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1) Server : WWW or QA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2) 3.Page Track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3)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첨부파일에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마지막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위치에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sheet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업로드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C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5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번째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URL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있어야함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4)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버튼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5) Export &gt; PageTrack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오류시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저장됩니다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 error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폴더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5621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55600" y="1244600"/>
            <a:ext cx="30226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Function 4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968500"/>
            <a:ext cx="6527800" cy="6515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314700" y="9525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Navi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0" y="1955800"/>
            <a:ext cx="7467600" cy="6527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350500" y="5219700"/>
            <a:ext cx="7124700" cy="279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방법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)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1) Server : WWW or QA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2) 4.Navi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3)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첨부파일에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마지막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위치에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sheet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업로드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C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5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번째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URL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있어야함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4) class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필드에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찾고자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class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값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입력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5)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버튼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6) Export &gt; navigation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오류시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저장됩니다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 error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폴더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3200" y="2184400"/>
            <a:ext cx="6172200" cy="2120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5900" y="3543300"/>
            <a:ext cx="4508500" cy="156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0500" y="8039100"/>
            <a:ext cx="1193800" cy="342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2500" y="2209800"/>
            <a:ext cx="6172200" cy="604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562100"/>
            <a:ext cx="143002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55600" y="1244600"/>
            <a:ext cx="30226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00" b="0" i="0" u="none" strike="noStrike">
                <a:solidFill>
                  <a:srgbClr val="0063BA"/>
                </a:solidFill>
                <a:latin typeface="Pretendard Bold"/>
              </a:rPr>
              <a:t>Function 5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968500"/>
            <a:ext cx="6527800" cy="6515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314700" y="952500"/>
            <a:ext cx="6223000" cy="558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116199"/>
              </a:lnSpc>
            </a:pPr>
            <a:r>
              <a:rPr lang="en-US" sz="3100" b="0" i="0" u="none" strike="noStrike">
                <a:solidFill>
                  <a:srgbClr val="0063BA"/>
                </a:solidFill>
                <a:latin typeface="Pretendard SemiBold"/>
              </a:rPr>
              <a:t>KV CTA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000" y="1955800"/>
            <a:ext cx="7467600" cy="6527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2500" y="2120900"/>
            <a:ext cx="6172200" cy="6045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5387" y="8086299"/>
            <a:ext cx="850900" cy="342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9700" y="2120900"/>
            <a:ext cx="5562600" cy="281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325100" y="5295900"/>
            <a:ext cx="7150100" cy="2794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24499"/>
              </a:lnSpc>
            </a:pP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방법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)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1) Server : WWW or QA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2) 5.KV CTA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선택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3) 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첨부파일에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마지막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위치에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sheet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업로드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C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5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번째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URL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있어야함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4)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버튼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클릭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5)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노란색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음영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표시된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컬럼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대상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6) Export &gt; KV_CTA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완료</a:t>
            </a:r>
          </a:p>
          <a:p>
            <a:pPr lvl="0" algn="l">
              <a:lnSpc>
                <a:spcPct val="124499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※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오류시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저장됩니다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. error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폴더</a:t>
            </a:r>
            <a:r>
              <a:rPr lang="en-US" sz="16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0" i="0" u="none" strike="noStrike">
                <a:solidFill>
                  <a:srgbClr val="000000"/>
                </a:solidFill>
                <a:ea typeface="Pretendard Regular"/>
              </a:rPr>
              <a:t>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1FB5-152E-18CA-01B4-0BB46AC58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F851EEB-5B2B-3A09-391D-C6837F8F4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1206500"/>
            <a:ext cx="14376400" cy="774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5FC064E-5B1C-1F52-F59B-E6AB6163D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1F30484-28B2-36C5-CE26-8F83474EA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0E1CE75-D153-E49D-914C-D2F8A40BA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1206500"/>
            <a:ext cx="144018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457812C-7B60-C6B2-A54B-4C84D13C47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300" y="1981200"/>
            <a:ext cx="144653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F9B55E0C-5AF0-B836-1DD4-B662DA084B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66DE2806-5CFF-23C2-B11C-2710B8E717BE}"/>
              </a:ext>
            </a:extLst>
          </p:cNvPr>
          <p:cNvSpPr txBox="1"/>
          <p:nvPr/>
        </p:nvSpPr>
        <p:spPr>
          <a:xfrm>
            <a:off x="3670300" y="1371600"/>
            <a:ext cx="137668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400" dirty="0" err="1">
                <a:solidFill>
                  <a:srgbClr val="000000"/>
                </a:solidFill>
                <a:ea typeface="Pretendard Medium"/>
              </a:rPr>
              <a:t>언팩</a:t>
            </a:r>
            <a:r>
              <a:rPr lang="ko-KR" altLang="en-US" sz="2400" dirty="0">
                <a:solidFill>
                  <a:srgbClr val="000000"/>
                </a:solidFill>
                <a:ea typeface="Pretendard Medium"/>
              </a:rPr>
              <a:t> 자동화 기능</a:t>
            </a:r>
            <a:endParaRPr lang="ko-KR" altLang="ko-KR" sz="2400" dirty="0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1C5100-7DC6-3E3B-906E-D6FD3CE7983B}"/>
              </a:ext>
            </a:extLst>
          </p:cNvPr>
          <p:cNvSpPr txBox="1"/>
          <p:nvPr/>
        </p:nvSpPr>
        <p:spPr>
          <a:xfrm>
            <a:off x="698500" y="1244600"/>
            <a:ext cx="2654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200" b="1" i="0" u="none" strike="noStrike" dirty="0">
                <a:solidFill>
                  <a:srgbClr val="0063BA"/>
                </a:solidFill>
                <a:latin typeface="Pretendard Bold"/>
              </a:rPr>
              <a:t>자동화</a:t>
            </a:r>
            <a:endParaRPr lang="en-US" sz="4200" b="1" i="0" u="none" strike="noStrike" dirty="0">
              <a:solidFill>
                <a:srgbClr val="0063BA"/>
              </a:solidFill>
              <a:latin typeface="Pretendard Bold"/>
            </a:endParaRPr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00933279-E510-7448-4B0F-496FBA6C69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1" y="5200960"/>
            <a:ext cx="4038600" cy="4313878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35890E97-EBDF-A73A-CABB-0D7F270F92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" y="2540001"/>
            <a:ext cx="3124200" cy="987301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2A718EBA-EDBE-C7AE-D351-D3C171BD9B4C}"/>
              </a:ext>
            </a:extLst>
          </p:cNvPr>
          <p:cNvSpPr txBox="1"/>
          <p:nvPr/>
        </p:nvSpPr>
        <p:spPr>
          <a:xfrm>
            <a:off x="237452" y="2540001"/>
            <a:ext cx="2839795" cy="98730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en-US" altLang="ko-KR" sz="1600" dirty="0">
                <a:solidFill>
                  <a:srgbClr val="0063BA"/>
                </a:solidFill>
                <a:latin typeface="Pretendard SemiBold"/>
              </a:rPr>
              <a:t>1.Galaxy_PageTracking.xlsx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4520382-A38C-66FE-8495-F67EC7B6077A}"/>
              </a:ext>
            </a:extLst>
          </p:cNvPr>
          <p:cNvSpPr txBox="1"/>
          <p:nvPr/>
        </p:nvSpPr>
        <p:spPr>
          <a:xfrm>
            <a:off x="13855479" y="5302576"/>
            <a:ext cx="3784821" cy="403192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sz="1200" dirty="0">
                <a:solidFill>
                  <a:srgbClr val="000000"/>
                </a:solidFill>
                <a:latin typeface="+mj-lt"/>
              </a:rPr>
              <a:t>QA) </a:t>
            </a:r>
            <a:r>
              <a:rPr lang="ko-KR" altLang="en-US" sz="1200" dirty="0">
                <a:solidFill>
                  <a:srgbClr val="000000"/>
                </a:solidFill>
                <a:latin typeface="+mj-lt"/>
              </a:rPr>
              <a:t>전 국가 제품별</a:t>
            </a:r>
            <a:r>
              <a:rPr lang="en-US" sz="12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latin typeface="+mj-lt"/>
              </a:rPr>
              <a:t>Flagship PDP</a:t>
            </a:r>
            <a:r>
              <a:rPr lang="ko-KR" altLang="en-US" sz="1200" dirty="0">
                <a:solidFill>
                  <a:srgbClr val="000000"/>
                </a:solidFill>
                <a:latin typeface="+mj-lt"/>
              </a:rPr>
              <a:t> 페이지</a:t>
            </a:r>
            <a:r>
              <a:rPr lang="en-US" altLang="ko-KR" sz="1200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>
                <a:solidFill>
                  <a:srgbClr val="000000"/>
                </a:solidFill>
                <a:latin typeface="+mj-lt"/>
              </a:rPr>
              <a:t>Console &gt; Digital data </a:t>
            </a:r>
            <a:r>
              <a:rPr lang="ko-KR" altLang="en-US" sz="1200" dirty="0">
                <a:solidFill>
                  <a:srgbClr val="000000"/>
                </a:solidFill>
                <a:latin typeface="+mj-lt"/>
              </a:rPr>
              <a:t>입력 </a:t>
            </a:r>
            <a:endParaRPr lang="en-US" altLang="ko-KR" sz="1200" dirty="0">
              <a:solidFill>
                <a:srgbClr val="000000"/>
              </a:solidFill>
              <a:latin typeface="+mj-lt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solidFill>
                <a:srgbClr val="000000"/>
              </a:solidFill>
              <a:latin typeface="+mj-lt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</a:rPr>
              <a:t>AS-IS)</a:t>
            </a:r>
            <a:endParaRPr lang="en-US" altLang="ko-KR" sz="1200" b="1" i="0" u="none" strike="noStrike" dirty="0">
              <a:solidFill>
                <a:srgbClr val="000000"/>
              </a:solidFill>
              <a:highlight>
                <a:srgbClr val="FFFF00"/>
              </a:highlight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총 페이지 수</a:t>
            </a:r>
            <a:r>
              <a:rPr lang="en-US" altLang="ko-KR" sz="1200" dirty="0">
                <a:latin typeface="+mj-lt"/>
              </a:rPr>
              <a:t>: 90</a:t>
            </a:r>
            <a:r>
              <a:rPr lang="ko-KR" altLang="en-US" sz="1200" dirty="0">
                <a:latin typeface="+mj-lt"/>
              </a:rPr>
              <a:t>개 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페이지당 확인 항목</a:t>
            </a:r>
            <a:r>
              <a:rPr lang="en-US" altLang="ko-KR" sz="1200" dirty="0">
                <a:latin typeface="+mj-lt"/>
              </a:rPr>
              <a:t>: 12</a:t>
            </a:r>
            <a:r>
              <a:rPr lang="ko-KR" altLang="en-US" sz="1200" dirty="0">
                <a:latin typeface="+mj-lt"/>
              </a:rPr>
              <a:t>개 컬럼 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총 확인 항목</a:t>
            </a:r>
            <a:r>
              <a:rPr lang="en-US" altLang="ko-KR" sz="1200" dirty="0">
                <a:latin typeface="+mj-lt"/>
              </a:rPr>
              <a:t>: 90 × 12 = 1,080</a:t>
            </a:r>
            <a:r>
              <a:rPr lang="ko-KR" altLang="en-US" sz="1200" dirty="0">
                <a:latin typeface="+mj-lt"/>
              </a:rPr>
              <a:t>개 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소요 시간 </a:t>
            </a:r>
            <a:r>
              <a:rPr lang="en-US" altLang="ko-KR" sz="1200" dirty="0">
                <a:latin typeface="+mj-lt"/>
              </a:rPr>
              <a:t>: 1</a:t>
            </a:r>
            <a:r>
              <a:rPr lang="ko-KR" altLang="en-US" sz="1200" dirty="0">
                <a:latin typeface="+mj-lt"/>
              </a:rPr>
              <a:t> </a:t>
            </a:r>
            <a:r>
              <a:rPr lang="en-US" altLang="ko-KR" sz="1200" dirty="0">
                <a:latin typeface="+mj-lt"/>
              </a:rPr>
              <a:t>Case</a:t>
            </a:r>
            <a:r>
              <a:rPr lang="ko-KR" altLang="en-US" sz="1200" dirty="0">
                <a:latin typeface="+mj-lt"/>
              </a:rPr>
              <a:t> 수행 시 </a:t>
            </a:r>
            <a:r>
              <a:rPr lang="ko-KR" altLang="en-US" sz="1200" dirty="0">
                <a:solidFill>
                  <a:srgbClr val="FF0000"/>
                </a:solidFill>
                <a:latin typeface="+mj-lt"/>
              </a:rPr>
              <a:t>약 </a:t>
            </a:r>
            <a:r>
              <a:rPr lang="en-US" altLang="ko-KR" sz="1200" dirty="0">
                <a:solidFill>
                  <a:srgbClr val="FF0000"/>
                </a:solidFill>
                <a:latin typeface="+mj-lt"/>
              </a:rPr>
              <a:t>2~3</a:t>
            </a:r>
            <a:r>
              <a:rPr lang="ko-KR" altLang="en-US" sz="1200" dirty="0">
                <a:solidFill>
                  <a:srgbClr val="FF0000"/>
                </a:solidFill>
                <a:latin typeface="+mj-lt"/>
              </a:rPr>
              <a:t>분 소요 </a:t>
            </a:r>
            <a:endParaRPr lang="en-US" altLang="ko-KR" sz="1200" dirty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>
                <a:latin typeface="+mj-lt"/>
              </a:rPr>
              <a:t>(</a:t>
            </a:r>
            <a:r>
              <a:rPr lang="ko-KR" altLang="en-US" sz="1200" dirty="0">
                <a:latin typeface="+mj-lt"/>
              </a:rPr>
              <a:t>페이지로드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컬럼 확인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결과 기재</a:t>
            </a:r>
            <a:r>
              <a:rPr lang="en-US" altLang="ko-KR" sz="1200" dirty="0">
                <a:latin typeface="+mj-lt"/>
              </a:rPr>
              <a:t> </a:t>
            </a:r>
            <a:r>
              <a:rPr lang="ko-KR" altLang="en-US" sz="1200" dirty="0" err="1">
                <a:latin typeface="+mj-lt"/>
              </a:rPr>
              <a:t>실측값</a:t>
            </a:r>
            <a:r>
              <a:rPr lang="en-US" altLang="ko-KR" sz="1200" dirty="0">
                <a:latin typeface="+mj-lt"/>
              </a:rPr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총 작업 시간</a:t>
            </a:r>
            <a:r>
              <a:rPr lang="en-US" altLang="ko-KR" sz="1200" dirty="0">
                <a:latin typeface="+mj-lt"/>
              </a:rPr>
              <a:t>: 1,080 Case × 2.5</a:t>
            </a:r>
            <a:r>
              <a:rPr lang="ko-KR" altLang="en-US" sz="1200" dirty="0">
                <a:latin typeface="+mj-lt"/>
              </a:rPr>
              <a:t>분 </a:t>
            </a:r>
            <a:r>
              <a:rPr lang="en-US" altLang="ko-KR" sz="1200" dirty="0">
                <a:latin typeface="+mj-lt"/>
              </a:rPr>
              <a:t>= 2,700</a:t>
            </a:r>
            <a:r>
              <a:rPr lang="ko-KR" altLang="en-US" sz="1200" dirty="0">
                <a:latin typeface="+mj-lt"/>
              </a:rPr>
              <a:t>분 </a:t>
            </a:r>
            <a:r>
              <a:rPr lang="en-US" altLang="ko-KR" sz="1200" dirty="0">
                <a:latin typeface="+mj-lt"/>
              </a:rPr>
              <a:t>(45</a:t>
            </a:r>
            <a:r>
              <a:rPr lang="ko-KR" altLang="en-US" sz="1200" dirty="0">
                <a:latin typeface="+mj-lt"/>
              </a:rPr>
              <a:t>시간</a:t>
            </a:r>
            <a:r>
              <a:rPr lang="en-US" altLang="ko-KR" sz="1200" dirty="0">
                <a:latin typeface="+mj-lt"/>
              </a:rPr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>
                <a:latin typeface="+mj-lt"/>
              </a:rPr>
              <a:t>QA </a:t>
            </a:r>
            <a:r>
              <a:rPr lang="ko-KR" altLang="en-US" sz="1200" dirty="0">
                <a:latin typeface="+mj-lt"/>
              </a:rPr>
              <a:t>가용인원</a:t>
            </a:r>
            <a:r>
              <a:rPr lang="en-US" altLang="ko-KR" sz="1200" dirty="0">
                <a:latin typeface="+mj-lt"/>
              </a:rPr>
              <a:t>: 6</a:t>
            </a:r>
            <a:r>
              <a:rPr lang="ko-KR" altLang="en-US" sz="1200" dirty="0">
                <a:latin typeface="+mj-lt"/>
              </a:rPr>
              <a:t>명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실제 소요 시간</a:t>
            </a:r>
            <a:r>
              <a:rPr lang="en-US" altLang="ko-KR" sz="1200" dirty="0">
                <a:latin typeface="+mj-lt"/>
              </a:rPr>
              <a:t>: 2,700</a:t>
            </a:r>
            <a:r>
              <a:rPr lang="ko-KR" altLang="en-US" sz="1200" dirty="0">
                <a:latin typeface="+mj-lt"/>
              </a:rPr>
              <a:t>분 </a:t>
            </a:r>
            <a:r>
              <a:rPr lang="en-US" altLang="ko-KR" sz="1200" dirty="0">
                <a:latin typeface="+mj-lt"/>
              </a:rPr>
              <a:t>÷ 6</a:t>
            </a:r>
            <a:r>
              <a:rPr lang="ko-KR" altLang="en-US" sz="1200" dirty="0">
                <a:latin typeface="+mj-lt"/>
              </a:rPr>
              <a:t>명 </a:t>
            </a:r>
            <a:r>
              <a:rPr lang="en-US" altLang="ko-KR" sz="1200" dirty="0">
                <a:latin typeface="+mj-lt"/>
              </a:rPr>
              <a:t>= 450</a:t>
            </a:r>
            <a:r>
              <a:rPr lang="ko-KR" altLang="en-US" sz="1200" dirty="0">
                <a:latin typeface="+mj-lt"/>
              </a:rPr>
              <a:t>분 </a:t>
            </a:r>
            <a:r>
              <a:rPr lang="en-US" altLang="ko-KR" sz="1200" dirty="0">
                <a:latin typeface="+mj-lt"/>
              </a:rPr>
              <a:t>(7.5</a:t>
            </a:r>
            <a:r>
              <a:rPr lang="ko-KR" altLang="en-US" sz="1200" dirty="0">
                <a:latin typeface="+mj-lt"/>
              </a:rPr>
              <a:t>시간</a:t>
            </a:r>
            <a:r>
              <a:rPr lang="en-US" altLang="ko-KR" sz="1200" dirty="0">
                <a:latin typeface="+mj-lt"/>
              </a:rPr>
              <a:t>)</a:t>
            </a:r>
            <a:endParaRPr lang="ko-KR" altLang="en-US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b="1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b="1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b="1" dirty="0">
                <a:highlight>
                  <a:srgbClr val="FFFF00"/>
                </a:highlight>
                <a:latin typeface="+mj-lt"/>
              </a:rPr>
              <a:t>TO-BE)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b="1" dirty="0">
                <a:latin typeface="+mj-lt"/>
              </a:rPr>
              <a:t>제품 </a:t>
            </a:r>
            <a:r>
              <a:rPr lang="en-US" altLang="ko-KR" sz="1200" b="1" dirty="0">
                <a:latin typeface="+mj-lt"/>
              </a:rPr>
              <a:t>1</a:t>
            </a:r>
            <a:r>
              <a:rPr lang="ko-KR" altLang="en-US" sz="1200" b="1" dirty="0">
                <a:latin typeface="+mj-lt"/>
              </a:rPr>
              <a:t>개 기준 </a:t>
            </a:r>
            <a:r>
              <a:rPr lang="ko-KR" altLang="en-US" sz="1200" b="1" dirty="0" err="1">
                <a:latin typeface="+mj-lt"/>
              </a:rPr>
              <a:t>전국가</a:t>
            </a:r>
            <a:r>
              <a:rPr lang="ko-KR" altLang="en-US" sz="1200" b="1" dirty="0">
                <a:latin typeface="+mj-lt"/>
              </a:rPr>
              <a:t> 페이지 </a:t>
            </a:r>
            <a:r>
              <a:rPr lang="en-US" altLang="ko-KR" sz="1200" b="1" dirty="0">
                <a:latin typeface="+mj-lt"/>
              </a:rPr>
              <a:t>(90</a:t>
            </a:r>
            <a:r>
              <a:rPr lang="ko-KR" altLang="en-US" sz="1200" b="1" dirty="0">
                <a:latin typeface="+mj-lt"/>
              </a:rPr>
              <a:t>개 페이지 기준</a:t>
            </a:r>
            <a:r>
              <a:rPr lang="en-US" altLang="ko-KR" sz="1200" b="1" dirty="0">
                <a:latin typeface="+mj-lt"/>
              </a:rPr>
              <a:t>) 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b="1" dirty="0">
                <a:latin typeface="+mj-lt"/>
              </a:rPr>
              <a:t>소요 시간 </a:t>
            </a:r>
            <a:r>
              <a:rPr lang="en-US" altLang="ko-KR" sz="1200" b="1" dirty="0">
                <a:latin typeface="+mj-lt"/>
              </a:rPr>
              <a:t>: 5</a:t>
            </a:r>
            <a:r>
              <a:rPr lang="ko-KR" altLang="en-US" sz="1200" b="1" dirty="0" err="1">
                <a:latin typeface="+mj-lt"/>
              </a:rPr>
              <a:t>분이내</a:t>
            </a:r>
            <a:r>
              <a:rPr lang="ko-KR" altLang="en-US" sz="1200" b="1" dirty="0">
                <a:latin typeface="+mj-lt"/>
              </a:rPr>
              <a:t> </a:t>
            </a:r>
            <a:endParaRPr lang="en-US" altLang="ko-KR" sz="1200" b="1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latin typeface="+mj-lt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27D1951-6918-BAA1-F1DF-FD7771CDF8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52" y="2540001"/>
            <a:ext cx="14638095" cy="2485714"/>
          </a:xfrm>
          <a:prstGeom prst="rect">
            <a:avLst/>
          </a:prstGeom>
        </p:spPr>
      </p:pic>
      <p:pic>
        <p:nvPicPr>
          <p:cNvPr id="16" name="Picture 12">
            <a:extLst>
              <a:ext uri="{FF2B5EF4-FFF2-40B4-BE49-F238E27FC236}">
                <a16:creationId xmlns:a16="http://schemas.microsoft.com/office/drawing/2014/main" id="{A1AC6903-0CB4-C3F6-40F6-BC942EFD43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" y="2192339"/>
            <a:ext cx="3124200" cy="317501"/>
          </a:xfrm>
          <a:prstGeom prst="rect">
            <a:avLst/>
          </a:prstGeom>
        </p:spPr>
      </p:pic>
      <p:sp>
        <p:nvSpPr>
          <p:cNvPr id="17" name="TextBox 13">
            <a:extLst>
              <a:ext uri="{FF2B5EF4-FFF2-40B4-BE49-F238E27FC236}">
                <a16:creationId xmlns:a16="http://schemas.microsoft.com/office/drawing/2014/main" id="{622F7B1F-15BE-6CA3-555A-3E5EFBA8C4AE}"/>
              </a:ext>
            </a:extLst>
          </p:cNvPr>
          <p:cNvSpPr txBox="1"/>
          <p:nvPr/>
        </p:nvSpPr>
        <p:spPr>
          <a:xfrm>
            <a:off x="237452" y="2232026"/>
            <a:ext cx="2839795" cy="2381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sz="1100" dirty="0">
                <a:solidFill>
                  <a:srgbClr val="0063BA"/>
                </a:solidFill>
                <a:latin typeface="Pretendard SemiBold"/>
              </a:rPr>
              <a:t>QA</a:t>
            </a:r>
            <a:r>
              <a:rPr lang="ko-KR" altLang="en-US" sz="1100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en-US" altLang="ko-KR" sz="1100" dirty="0">
                <a:solidFill>
                  <a:srgbClr val="0063BA"/>
                </a:solidFill>
                <a:latin typeface="Pretendard SemiBold"/>
              </a:rPr>
              <a:t>Sheet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FE2148-CD3E-1CAD-1154-8AE9C0C47E7E}"/>
              </a:ext>
            </a:extLst>
          </p:cNvPr>
          <p:cNvSpPr txBox="1"/>
          <p:nvPr/>
        </p:nvSpPr>
        <p:spPr>
          <a:xfrm>
            <a:off x="3314701" y="2054299"/>
            <a:ext cx="14376400" cy="39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1800" dirty="0" err="1">
                <a:solidFill>
                  <a:srgbClr val="FF0000"/>
                </a:solidFill>
                <a:ea typeface="Pretendard Medium"/>
              </a:rPr>
              <a:t>보안룸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 특성상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, Adobe DTM script block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처리되어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Network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 불가능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element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확인하여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sheet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기입</a:t>
            </a:r>
            <a:endParaRPr lang="ko-KR" altLang="ko-KR" sz="1800" b="0" i="0" u="none" strike="noStrike" dirty="0">
              <a:solidFill>
                <a:srgbClr val="FF0000"/>
              </a:solidFill>
              <a:ea typeface="Pretendard Medium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BCD9CFD-9A93-2971-8A0F-C5048311F2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5421" y="5162550"/>
            <a:ext cx="4838028" cy="432657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CA1D378-D099-1A35-1705-7F74EB4A20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2801" y="5321651"/>
            <a:ext cx="5143500" cy="3459779"/>
          </a:xfrm>
          <a:prstGeom prst="rect">
            <a:avLst/>
          </a:prstGeom>
        </p:spPr>
      </p:pic>
      <p:sp>
        <p:nvSpPr>
          <p:cNvPr id="27" name="화살표: 위로 굽음 26">
            <a:extLst>
              <a:ext uri="{FF2B5EF4-FFF2-40B4-BE49-F238E27FC236}">
                <a16:creationId xmlns:a16="http://schemas.microsoft.com/office/drawing/2014/main" id="{F4F6F6FA-1949-D077-49D5-D6F8FE8F5554}"/>
              </a:ext>
            </a:extLst>
          </p:cNvPr>
          <p:cNvSpPr/>
          <p:nvPr/>
        </p:nvSpPr>
        <p:spPr>
          <a:xfrm>
            <a:off x="12344399" y="4457699"/>
            <a:ext cx="1218527" cy="2127096"/>
          </a:xfrm>
          <a:prstGeom prst="bentUp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F96AF4C-9EEA-9590-73FC-B8E9D538CEF4}"/>
              </a:ext>
            </a:extLst>
          </p:cNvPr>
          <p:cNvSpPr/>
          <p:nvPr/>
        </p:nvSpPr>
        <p:spPr>
          <a:xfrm rot="20531166">
            <a:off x="4491743" y="3616366"/>
            <a:ext cx="3513313" cy="10222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r>
              <a:rPr lang="ko-KR" altLang="en-US" dirty="0"/>
              <a:t>개국 </a:t>
            </a:r>
            <a:r>
              <a:rPr lang="en-US" altLang="ko-KR" dirty="0"/>
              <a:t>*</a:t>
            </a:r>
            <a:r>
              <a:rPr lang="ko-KR" altLang="en-US" dirty="0"/>
              <a:t> 제품 페이지 수</a:t>
            </a:r>
            <a:endParaRPr lang="en-US" altLang="ko-KR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8D8A7-3DF9-AB17-27DA-B313BB339D3F}"/>
              </a:ext>
            </a:extLst>
          </p:cNvPr>
          <p:cNvSpPr/>
          <p:nvPr/>
        </p:nvSpPr>
        <p:spPr>
          <a:xfrm>
            <a:off x="7467600" y="8277039"/>
            <a:ext cx="6155147" cy="13385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AS-IS </a:t>
            </a:r>
            <a:r>
              <a:rPr lang="ko-KR" altLang="en-US" dirty="0"/>
              <a:t>총 투입 인력</a:t>
            </a:r>
            <a:r>
              <a:rPr lang="en-US" altLang="ko-KR" dirty="0"/>
              <a:t>: 6</a:t>
            </a:r>
            <a:r>
              <a:rPr lang="ko-KR" altLang="en-US" dirty="0"/>
              <a:t>명 </a:t>
            </a:r>
            <a:r>
              <a:rPr lang="en-US" altLang="ko-KR" dirty="0"/>
              <a:t>× 7.5</a:t>
            </a:r>
            <a:r>
              <a:rPr lang="ko-KR" altLang="en-US" dirty="0"/>
              <a:t>시간 </a:t>
            </a:r>
            <a:r>
              <a:rPr lang="en-US" altLang="ko-KR" dirty="0"/>
              <a:t>= 45 m/h</a:t>
            </a:r>
          </a:p>
          <a:p>
            <a:pPr algn="ctr"/>
            <a:r>
              <a:rPr lang="en-US" altLang="ko-KR" dirty="0"/>
              <a:t>TO-BE </a:t>
            </a:r>
            <a:r>
              <a:rPr lang="ko-KR" altLang="en-US" dirty="0"/>
              <a:t>총 투입 인력</a:t>
            </a:r>
            <a:r>
              <a:rPr lang="en-US" altLang="ko-KR" dirty="0"/>
              <a:t>: 1</a:t>
            </a:r>
            <a:r>
              <a:rPr lang="ko-KR" altLang="en-US" dirty="0"/>
              <a:t>명 </a:t>
            </a:r>
            <a:r>
              <a:rPr lang="en-US" altLang="ko-KR" dirty="0"/>
              <a:t>× 0.08</a:t>
            </a:r>
            <a:r>
              <a:rPr lang="ko-KR" altLang="en-US" dirty="0"/>
              <a:t>시간 </a:t>
            </a:r>
            <a:r>
              <a:rPr lang="en-US" altLang="ko-KR" dirty="0"/>
              <a:t>= 0.08 m/h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시간 </a:t>
            </a:r>
            <a:r>
              <a:rPr lang="ko-KR" altLang="en-US" dirty="0" err="1"/>
              <a:t>단축률</a:t>
            </a:r>
            <a:r>
              <a:rPr lang="en-US" altLang="ko-KR" dirty="0"/>
              <a:t>: (1 - 0.08</a:t>
            </a:r>
            <a:r>
              <a:rPr lang="ko-KR" altLang="en-US" dirty="0"/>
              <a:t>시간</a:t>
            </a:r>
            <a:r>
              <a:rPr lang="en-US" altLang="ko-KR" dirty="0"/>
              <a:t>/7.5</a:t>
            </a:r>
            <a:r>
              <a:rPr lang="ko-KR" altLang="en-US" dirty="0"/>
              <a:t>시간</a:t>
            </a:r>
            <a:r>
              <a:rPr lang="en-US" altLang="ko-KR" dirty="0"/>
              <a:t>) × 100 = 98.9% </a:t>
            </a:r>
            <a:r>
              <a:rPr lang="ko-KR" altLang="en-US" dirty="0"/>
              <a:t>시간 단축</a:t>
            </a:r>
          </a:p>
        </p:txBody>
      </p:sp>
    </p:spTree>
    <p:extLst>
      <p:ext uri="{BB962C8B-B14F-4D97-AF65-F5344CB8AC3E}">
        <p14:creationId xmlns:p14="http://schemas.microsoft.com/office/powerpoint/2010/main" val="314465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075B-AC8F-6DF7-36FB-25D2EAAF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19E7F12E-0709-0A60-D1FB-4FCBB914E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651" y="2572668"/>
            <a:ext cx="13986711" cy="244795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454B5E2-C75B-08CE-1160-F5D05DBD9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206500"/>
            <a:ext cx="14376400" cy="774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55A706D-6900-F6F7-17C9-71A4FB04C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7568A2B-0ED1-C0BB-BB58-D32CDC953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B63313F7-F781-C4D0-E020-5D44F1253D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1206500"/>
            <a:ext cx="144018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EA3C136-5430-15AC-8C8F-0A0357B215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9300" y="1981200"/>
            <a:ext cx="144653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199154F3-93A7-77E5-E536-AFB9440C03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B69BA51B-951C-1830-8EF7-3E3A3D404BA0}"/>
              </a:ext>
            </a:extLst>
          </p:cNvPr>
          <p:cNvSpPr txBox="1"/>
          <p:nvPr/>
        </p:nvSpPr>
        <p:spPr>
          <a:xfrm>
            <a:off x="3670300" y="1371600"/>
            <a:ext cx="137668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400" b="0" i="0" u="none" strike="noStrike" dirty="0" err="1">
                <a:solidFill>
                  <a:srgbClr val="000000"/>
                </a:solidFill>
                <a:ea typeface="Pretendard Medium"/>
              </a:rPr>
              <a:t>언팩</a:t>
            </a:r>
            <a:r>
              <a:rPr lang="ko-KR" altLang="en-US" sz="2400" b="0" i="0" u="none" strike="noStrike" dirty="0">
                <a:solidFill>
                  <a:srgbClr val="000000"/>
                </a:solidFill>
                <a:ea typeface="Pretendard Medium"/>
              </a:rPr>
              <a:t> 자동화 기</a:t>
            </a:r>
            <a:r>
              <a:rPr lang="ko-KR" altLang="en-US" sz="2400" dirty="0">
                <a:solidFill>
                  <a:srgbClr val="000000"/>
                </a:solidFill>
                <a:ea typeface="Pretendard Medium"/>
              </a:rPr>
              <a:t>능</a:t>
            </a:r>
            <a:endParaRPr lang="ko-KR" sz="2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7CB036F-10B1-0442-AB71-DFF20A553F05}"/>
              </a:ext>
            </a:extLst>
          </p:cNvPr>
          <p:cNvSpPr txBox="1"/>
          <p:nvPr/>
        </p:nvSpPr>
        <p:spPr>
          <a:xfrm>
            <a:off x="698500" y="1244600"/>
            <a:ext cx="2654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200" b="1" i="0" u="none" strike="noStrike" dirty="0">
                <a:solidFill>
                  <a:srgbClr val="0063BA"/>
                </a:solidFill>
                <a:latin typeface="Pretendard Bold"/>
              </a:rPr>
              <a:t>자동화</a:t>
            </a:r>
            <a:endParaRPr lang="en-US" sz="4200" b="1" i="0" u="none" strike="noStrike" dirty="0">
              <a:solidFill>
                <a:srgbClr val="0063BA"/>
              </a:solidFill>
              <a:latin typeface="Pretendard Bold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A705B7FD-8EE5-4A5E-1DF2-A32A9721D7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" y="2564132"/>
            <a:ext cx="3124200" cy="2636827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2ED713A9-F21B-5152-8056-18AE32ABAE73}"/>
              </a:ext>
            </a:extLst>
          </p:cNvPr>
          <p:cNvSpPr txBox="1"/>
          <p:nvPr/>
        </p:nvSpPr>
        <p:spPr>
          <a:xfrm>
            <a:off x="237452" y="2540001"/>
            <a:ext cx="2839795" cy="248571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sz="1600" dirty="0">
                <a:solidFill>
                  <a:srgbClr val="0063BA"/>
                </a:solidFill>
                <a:latin typeface="Pretendard SemiBold"/>
              </a:rPr>
              <a:t>2.Galaxy Livestreaming, Home KV, </a:t>
            </a:r>
            <a:r>
              <a:rPr lang="en-US" sz="1600" dirty="0" err="1">
                <a:solidFill>
                  <a:srgbClr val="0063BA"/>
                </a:solidFill>
                <a:latin typeface="Pretendard SemiBold"/>
              </a:rPr>
              <a:t>Redirection_Tagging</a:t>
            </a:r>
            <a:r>
              <a:rPr lang="en-US" sz="1600" dirty="0">
                <a:solidFill>
                  <a:srgbClr val="0063BA"/>
                </a:solidFill>
                <a:latin typeface="Pretendard SemiBold"/>
              </a:rPr>
              <a:t> Status.xlsx</a:t>
            </a:r>
          </a:p>
          <a:p>
            <a:pPr lvl="0">
              <a:lnSpc>
                <a:spcPct val="116199"/>
              </a:lnSpc>
            </a:pPr>
            <a:endParaRPr lang="en-US" sz="1600" dirty="0">
              <a:solidFill>
                <a:srgbClr val="0063BA"/>
              </a:solidFill>
              <a:latin typeface="Pretendard SemiBold"/>
            </a:endParaRPr>
          </a:p>
          <a:p>
            <a:pPr lvl="0">
              <a:lnSpc>
                <a:spcPct val="116199"/>
              </a:lnSpc>
            </a:pPr>
            <a:r>
              <a:rPr lang="en-US" sz="1100" dirty="0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en-US" sz="1400" b="1" u="sng" dirty="0">
                <a:solidFill>
                  <a:srgbClr val="0063BA"/>
                </a:solidFill>
                <a:latin typeface="Pretendard SemiBold"/>
              </a:rPr>
              <a:t>Home KV</a:t>
            </a:r>
            <a:r>
              <a:rPr lang="ko-KR" altLang="en-US" sz="1400" b="1" u="sng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en-US" altLang="ko-KR" sz="1400" b="1" u="sng" dirty="0">
                <a:solidFill>
                  <a:srgbClr val="0063BA"/>
                </a:solidFill>
                <a:latin typeface="Pretendard SemiBold"/>
              </a:rPr>
              <a:t>Data </a:t>
            </a:r>
            <a:r>
              <a:rPr lang="en-US" altLang="ko-KR" sz="1100" b="1" dirty="0">
                <a:solidFill>
                  <a:srgbClr val="0063BA"/>
                </a:solidFill>
                <a:latin typeface="Pretendard SemiBold"/>
              </a:rPr>
              <a:t> / </a:t>
            </a:r>
            <a:r>
              <a:rPr lang="en-US" altLang="ko-KR" sz="1100" dirty="0">
                <a:solidFill>
                  <a:schemeClr val="accent1">
                    <a:lumMod val="60000"/>
                    <a:lumOff val="40000"/>
                  </a:schemeClr>
                </a:solidFill>
                <a:latin typeface="Pretendard SemiBold"/>
              </a:rPr>
              <a:t>Home Redirection</a:t>
            </a: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C4112D63-8033-804B-EA7A-EAC0287650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" y="2192339"/>
            <a:ext cx="3124200" cy="317501"/>
          </a:xfrm>
          <a:prstGeom prst="rect">
            <a:avLst/>
          </a:prstGeom>
        </p:spPr>
      </p:pic>
      <p:sp>
        <p:nvSpPr>
          <p:cNvPr id="17" name="TextBox 13">
            <a:extLst>
              <a:ext uri="{FF2B5EF4-FFF2-40B4-BE49-F238E27FC236}">
                <a16:creationId xmlns:a16="http://schemas.microsoft.com/office/drawing/2014/main" id="{36269DBD-EFC8-E6BC-CBFF-691FAEA66D89}"/>
              </a:ext>
            </a:extLst>
          </p:cNvPr>
          <p:cNvSpPr txBox="1"/>
          <p:nvPr/>
        </p:nvSpPr>
        <p:spPr>
          <a:xfrm>
            <a:off x="237452" y="2232026"/>
            <a:ext cx="2839795" cy="2381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sz="1100" dirty="0">
                <a:solidFill>
                  <a:srgbClr val="0063BA"/>
                </a:solidFill>
                <a:latin typeface="Pretendard SemiBold"/>
              </a:rPr>
              <a:t>QA</a:t>
            </a:r>
            <a:r>
              <a:rPr lang="ko-KR" altLang="en-US" sz="1100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en-US" altLang="ko-KR" sz="1100" dirty="0">
                <a:solidFill>
                  <a:srgbClr val="0063BA"/>
                </a:solidFill>
                <a:latin typeface="Pretendard SemiBold"/>
              </a:rPr>
              <a:t>Sheet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8A9EDE-18A9-2C7F-3461-BD3D42718534}"/>
              </a:ext>
            </a:extLst>
          </p:cNvPr>
          <p:cNvSpPr txBox="1"/>
          <p:nvPr/>
        </p:nvSpPr>
        <p:spPr>
          <a:xfrm>
            <a:off x="3314701" y="2054299"/>
            <a:ext cx="14376400" cy="39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1800" dirty="0" err="1">
                <a:solidFill>
                  <a:srgbClr val="FF0000"/>
                </a:solidFill>
                <a:ea typeface="Pretendard Medium"/>
              </a:rPr>
              <a:t>보안룸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 특성상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, Adobe DTM script block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처리되어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Network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 불가능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element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확인하여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sheet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기입</a:t>
            </a:r>
            <a:endParaRPr lang="ko-KR" altLang="ko-KR" sz="1800" b="0" i="0" u="none" strike="noStrike" dirty="0">
              <a:solidFill>
                <a:srgbClr val="FF0000"/>
              </a:solidFill>
              <a:ea typeface="Pretendard Medium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94E025-C794-D6E7-7BA1-969E28778AE0}"/>
              </a:ext>
            </a:extLst>
          </p:cNvPr>
          <p:cNvSpPr/>
          <p:nvPr/>
        </p:nvSpPr>
        <p:spPr>
          <a:xfrm rot="20531166">
            <a:off x="4491743" y="3616366"/>
            <a:ext cx="3513313" cy="102224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r>
              <a:rPr lang="ko-KR" altLang="en-US" dirty="0"/>
              <a:t>개국 </a:t>
            </a:r>
            <a:r>
              <a:rPr lang="en-US" altLang="ko-KR" dirty="0"/>
              <a:t>* KV </a:t>
            </a:r>
            <a:r>
              <a:rPr lang="ko-KR" altLang="en-US" dirty="0"/>
              <a:t>컴포넌트</a:t>
            </a:r>
            <a:endParaRPr lang="en-US" altLang="ko-KR" dirty="0"/>
          </a:p>
        </p:txBody>
      </p:sp>
      <p:pic>
        <p:nvPicPr>
          <p:cNvPr id="27" name="Picture 11">
            <a:extLst>
              <a:ext uri="{FF2B5EF4-FFF2-40B4-BE49-F238E27FC236}">
                <a16:creationId xmlns:a16="http://schemas.microsoft.com/office/drawing/2014/main" id="{A35A97DC-1AA1-2282-0034-CFAF034FA2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16001" y="5200960"/>
            <a:ext cx="4038600" cy="4313878"/>
          </a:xfrm>
          <a:prstGeom prst="rect">
            <a:avLst/>
          </a:prstGeom>
        </p:spPr>
      </p:pic>
      <p:sp>
        <p:nvSpPr>
          <p:cNvPr id="28" name="TextBox 14">
            <a:extLst>
              <a:ext uri="{FF2B5EF4-FFF2-40B4-BE49-F238E27FC236}">
                <a16:creationId xmlns:a16="http://schemas.microsoft.com/office/drawing/2014/main" id="{05F49AF9-249C-1841-258E-8192A6D857AA}"/>
              </a:ext>
            </a:extLst>
          </p:cNvPr>
          <p:cNvSpPr txBox="1"/>
          <p:nvPr/>
        </p:nvSpPr>
        <p:spPr>
          <a:xfrm>
            <a:off x="13855479" y="5302576"/>
            <a:ext cx="3784821" cy="403192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sz="1200" dirty="0">
                <a:solidFill>
                  <a:srgbClr val="000000"/>
                </a:solidFill>
                <a:latin typeface="+mj-lt"/>
              </a:rPr>
              <a:t>QA) HOME KV</a:t>
            </a:r>
            <a:r>
              <a:rPr lang="ko-KR" altLang="en-US" sz="12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+mj-lt"/>
              </a:rPr>
              <a:t>CTA Tagging attribute </a:t>
            </a:r>
            <a:r>
              <a:rPr lang="ko-KR" altLang="en-US" sz="1200" dirty="0">
                <a:solidFill>
                  <a:srgbClr val="000000"/>
                </a:solidFill>
                <a:latin typeface="+mj-lt"/>
              </a:rPr>
              <a:t>값 해당 컬럼에 기입</a:t>
            </a:r>
            <a:endParaRPr lang="en-US" altLang="ko-KR" sz="1200" dirty="0">
              <a:solidFill>
                <a:srgbClr val="000000"/>
              </a:solidFill>
              <a:latin typeface="+mj-lt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solidFill>
                <a:srgbClr val="000000"/>
              </a:solidFill>
              <a:latin typeface="+mj-lt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b="1" dirty="0">
                <a:solidFill>
                  <a:srgbClr val="000000"/>
                </a:solidFill>
                <a:highlight>
                  <a:srgbClr val="FFFF00"/>
                </a:highlight>
                <a:latin typeface="+mj-lt"/>
              </a:rPr>
              <a:t>AS-IS</a:t>
            </a:r>
            <a:r>
              <a:rPr lang="en-US" altLang="ko-KR" sz="1200" b="1" dirty="0">
                <a:solidFill>
                  <a:srgbClr val="000000"/>
                </a:solidFill>
                <a:latin typeface="+mj-lt"/>
              </a:rPr>
              <a:t>)</a:t>
            </a:r>
            <a:endParaRPr lang="en-US" altLang="ko-KR" sz="1200" b="1" i="0" u="none" strike="noStrike" dirty="0">
              <a:solidFill>
                <a:srgbClr val="000000"/>
              </a:solidFill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총 페이지 수</a:t>
            </a:r>
            <a:r>
              <a:rPr lang="en-US" altLang="ko-KR" sz="1200" dirty="0">
                <a:latin typeface="+mj-lt"/>
              </a:rPr>
              <a:t>: 90</a:t>
            </a:r>
            <a:r>
              <a:rPr lang="ko-KR" altLang="en-US" sz="1200" dirty="0">
                <a:latin typeface="+mj-lt"/>
              </a:rPr>
              <a:t>개 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페이지당 확인 항목</a:t>
            </a:r>
            <a:r>
              <a:rPr lang="en-US" altLang="ko-KR" sz="1200" dirty="0">
                <a:latin typeface="+mj-lt"/>
              </a:rPr>
              <a:t>: 18</a:t>
            </a:r>
            <a:r>
              <a:rPr lang="ko-KR" altLang="en-US" sz="1200" dirty="0">
                <a:latin typeface="+mj-lt"/>
              </a:rPr>
              <a:t>개 컬럼 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총 확인 항목</a:t>
            </a:r>
            <a:r>
              <a:rPr lang="en-US" altLang="ko-KR" sz="1200" dirty="0">
                <a:latin typeface="+mj-lt"/>
              </a:rPr>
              <a:t>: 90 × 18 = 1,620</a:t>
            </a:r>
            <a:r>
              <a:rPr lang="ko-KR" altLang="en-US" sz="1200" dirty="0">
                <a:latin typeface="+mj-lt"/>
              </a:rPr>
              <a:t>개 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소요 시간 </a:t>
            </a:r>
            <a:r>
              <a:rPr lang="en-US" altLang="ko-KR" sz="1200" dirty="0">
                <a:latin typeface="+mj-lt"/>
              </a:rPr>
              <a:t>: 1</a:t>
            </a:r>
            <a:r>
              <a:rPr lang="ko-KR" altLang="en-US" sz="1200" dirty="0">
                <a:latin typeface="+mj-lt"/>
              </a:rPr>
              <a:t> </a:t>
            </a:r>
            <a:r>
              <a:rPr lang="en-US" altLang="ko-KR" sz="1200" dirty="0">
                <a:latin typeface="+mj-lt"/>
              </a:rPr>
              <a:t>Case</a:t>
            </a:r>
            <a:r>
              <a:rPr lang="ko-KR" altLang="en-US" sz="1200" dirty="0">
                <a:latin typeface="+mj-lt"/>
              </a:rPr>
              <a:t> 수행 시 </a:t>
            </a:r>
            <a:r>
              <a:rPr lang="ko-KR" altLang="en-US" sz="1200" dirty="0">
                <a:solidFill>
                  <a:srgbClr val="FF0000"/>
                </a:solidFill>
                <a:latin typeface="+mj-lt"/>
              </a:rPr>
              <a:t>약 </a:t>
            </a:r>
            <a:r>
              <a:rPr lang="en-US" altLang="ko-KR" sz="1200" dirty="0">
                <a:solidFill>
                  <a:srgbClr val="FF0000"/>
                </a:solidFill>
                <a:latin typeface="+mj-lt"/>
              </a:rPr>
              <a:t>3</a:t>
            </a:r>
            <a:r>
              <a:rPr lang="ko-KR" altLang="en-US" sz="1200" dirty="0">
                <a:solidFill>
                  <a:srgbClr val="FF0000"/>
                </a:solidFill>
                <a:latin typeface="+mj-lt"/>
              </a:rPr>
              <a:t>분 소요 </a:t>
            </a:r>
            <a:endParaRPr lang="en-US" altLang="ko-KR" sz="1200" dirty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>
                <a:latin typeface="+mj-lt"/>
              </a:rPr>
              <a:t>(</a:t>
            </a:r>
            <a:r>
              <a:rPr lang="ko-KR" altLang="en-US" sz="1200" dirty="0">
                <a:latin typeface="+mj-lt"/>
              </a:rPr>
              <a:t>페이지로드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컬럼 확인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결과 기재</a:t>
            </a:r>
            <a:r>
              <a:rPr lang="en-US" altLang="ko-KR" sz="1200" dirty="0">
                <a:latin typeface="+mj-lt"/>
              </a:rPr>
              <a:t> </a:t>
            </a:r>
            <a:r>
              <a:rPr lang="ko-KR" altLang="en-US" sz="1200" dirty="0">
                <a:latin typeface="+mj-lt"/>
              </a:rPr>
              <a:t>실측 값</a:t>
            </a:r>
            <a:r>
              <a:rPr lang="en-US" altLang="ko-KR" sz="1200" dirty="0">
                <a:latin typeface="+mj-lt"/>
              </a:rPr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총 작업 시간</a:t>
            </a:r>
            <a:r>
              <a:rPr lang="en-US" altLang="ko-KR" sz="1200" dirty="0">
                <a:latin typeface="+mj-lt"/>
              </a:rPr>
              <a:t>: 1,620 Case × 3</a:t>
            </a:r>
            <a:r>
              <a:rPr lang="ko-KR" altLang="en-US" sz="1200" dirty="0">
                <a:latin typeface="+mj-lt"/>
              </a:rPr>
              <a:t>분 </a:t>
            </a:r>
            <a:r>
              <a:rPr lang="en-US" altLang="ko-KR" sz="1200" dirty="0">
                <a:latin typeface="+mj-lt"/>
              </a:rPr>
              <a:t>= 4,860</a:t>
            </a:r>
            <a:r>
              <a:rPr lang="ko-KR" altLang="en-US" sz="1200" dirty="0">
                <a:latin typeface="+mj-lt"/>
              </a:rPr>
              <a:t>분 </a:t>
            </a:r>
            <a:r>
              <a:rPr lang="en-US" altLang="ko-KR" sz="1200" dirty="0">
                <a:latin typeface="+mj-lt"/>
              </a:rPr>
              <a:t>(81</a:t>
            </a:r>
            <a:r>
              <a:rPr lang="ko-KR" altLang="en-US" sz="1200" dirty="0">
                <a:latin typeface="+mj-lt"/>
              </a:rPr>
              <a:t>시간</a:t>
            </a:r>
            <a:r>
              <a:rPr lang="en-US" altLang="ko-KR" sz="1200" dirty="0">
                <a:latin typeface="+mj-lt"/>
              </a:rPr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>
                <a:latin typeface="+mj-lt"/>
              </a:rPr>
              <a:t>QA </a:t>
            </a:r>
            <a:r>
              <a:rPr lang="ko-KR" altLang="en-US" sz="1200" dirty="0">
                <a:latin typeface="+mj-lt"/>
              </a:rPr>
              <a:t>가용인원</a:t>
            </a:r>
            <a:r>
              <a:rPr lang="en-US" altLang="ko-KR" sz="1200" dirty="0">
                <a:latin typeface="+mj-lt"/>
              </a:rPr>
              <a:t>: 6</a:t>
            </a:r>
            <a:r>
              <a:rPr lang="ko-KR" altLang="en-US" sz="1200" dirty="0">
                <a:latin typeface="+mj-lt"/>
              </a:rPr>
              <a:t>명</a:t>
            </a: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>
                <a:latin typeface="+mj-lt"/>
              </a:rPr>
              <a:t>실제 소요 시간</a:t>
            </a:r>
            <a:r>
              <a:rPr lang="en-US" altLang="ko-KR" sz="1200" dirty="0">
                <a:latin typeface="+mj-lt"/>
              </a:rPr>
              <a:t>: </a:t>
            </a:r>
            <a:r>
              <a:rPr lang="en-US" altLang="ko-KR" sz="1200" dirty="0"/>
              <a:t>4,860</a:t>
            </a:r>
            <a:r>
              <a:rPr lang="ko-KR" altLang="en-US" sz="1200" dirty="0"/>
              <a:t>분 </a:t>
            </a:r>
            <a:r>
              <a:rPr lang="en-US" altLang="ko-KR" sz="1200" dirty="0"/>
              <a:t>÷ 6</a:t>
            </a:r>
            <a:r>
              <a:rPr lang="ko-KR" altLang="en-US" sz="1200" dirty="0"/>
              <a:t>명 </a:t>
            </a:r>
            <a:r>
              <a:rPr lang="en-US" altLang="ko-KR" sz="1200" dirty="0"/>
              <a:t>= 810</a:t>
            </a:r>
            <a:r>
              <a:rPr lang="ko-KR" altLang="en-US" sz="1200" dirty="0"/>
              <a:t>분 </a:t>
            </a:r>
            <a:r>
              <a:rPr lang="en-US" altLang="ko-KR" sz="1200" dirty="0"/>
              <a:t>(13.5</a:t>
            </a:r>
            <a:r>
              <a:rPr lang="ko-KR" altLang="en-US" sz="1200" dirty="0"/>
              <a:t>시간</a:t>
            </a:r>
            <a:r>
              <a:rPr lang="en-US" altLang="ko-KR" sz="1200" dirty="0"/>
              <a:t>)</a:t>
            </a:r>
            <a:endParaRPr lang="ko-KR" altLang="en-US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b="1" dirty="0">
              <a:latin typeface="+mj-lt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b="1" dirty="0">
                <a:highlight>
                  <a:srgbClr val="FFFF00"/>
                </a:highlight>
                <a:latin typeface="+mj-lt"/>
              </a:rPr>
              <a:t>TO-BE)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b="1" dirty="0"/>
              <a:t>제품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개 기준 </a:t>
            </a:r>
            <a:r>
              <a:rPr lang="ko-KR" altLang="en-US" sz="1200" b="1" dirty="0" err="1"/>
              <a:t>전국가</a:t>
            </a:r>
            <a:r>
              <a:rPr lang="ko-KR" altLang="en-US" sz="1200" b="1" dirty="0"/>
              <a:t> 페이지 </a:t>
            </a:r>
            <a:r>
              <a:rPr lang="en-US" altLang="ko-KR" sz="1200" b="1" dirty="0"/>
              <a:t>(90</a:t>
            </a:r>
            <a:r>
              <a:rPr lang="ko-KR" altLang="en-US" sz="1200" b="1" dirty="0"/>
              <a:t>개 페이지 기준</a:t>
            </a:r>
            <a:r>
              <a:rPr lang="en-US" altLang="ko-KR" sz="1200" b="1" dirty="0"/>
              <a:t>) 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b="1" dirty="0"/>
              <a:t>소요 시간 </a:t>
            </a:r>
            <a:r>
              <a:rPr lang="en-US" altLang="ko-KR" sz="1200" b="1" dirty="0"/>
              <a:t>: 11</a:t>
            </a:r>
            <a:r>
              <a:rPr lang="ko-KR" altLang="en-US" sz="1200" b="1" dirty="0" err="1"/>
              <a:t>분이내</a:t>
            </a:r>
            <a:r>
              <a:rPr lang="ko-KR" altLang="en-US" sz="1200" b="1" dirty="0"/>
              <a:t> </a:t>
            </a:r>
            <a:endParaRPr lang="en-US" altLang="ko-KR" sz="1200" b="1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latin typeface="+mj-lt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386AAF0-F376-FDF4-9B31-ABA69398BE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90226" y="5200959"/>
            <a:ext cx="4442466" cy="441465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76732E7-ABF0-2E73-B7A5-94FEF14064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75654" y="5810122"/>
            <a:ext cx="5759284" cy="3095554"/>
          </a:xfrm>
          <a:prstGeom prst="rect">
            <a:avLst/>
          </a:prstGeom>
        </p:spPr>
      </p:pic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F2BE2EDD-DBCD-7EF9-E943-4BBA1145F36E}"/>
              </a:ext>
            </a:extLst>
          </p:cNvPr>
          <p:cNvSpPr/>
          <p:nvPr/>
        </p:nvSpPr>
        <p:spPr>
          <a:xfrm rot="16200000">
            <a:off x="10674449" y="4782432"/>
            <a:ext cx="695133" cy="1171511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D9B4ECC-F75F-92F3-75E0-46A0D4EDE4D0}"/>
              </a:ext>
            </a:extLst>
          </p:cNvPr>
          <p:cNvSpPr/>
          <p:nvPr/>
        </p:nvSpPr>
        <p:spPr>
          <a:xfrm>
            <a:off x="7467600" y="8277039"/>
            <a:ext cx="6155147" cy="13385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AS-IS </a:t>
            </a:r>
            <a:r>
              <a:rPr lang="ko-KR" altLang="en-US" dirty="0"/>
              <a:t>총 투입 인력</a:t>
            </a:r>
            <a:r>
              <a:rPr lang="en-US" altLang="ko-KR" dirty="0"/>
              <a:t>: 6</a:t>
            </a:r>
            <a:r>
              <a:rPr lang="ko-KR" altLang="en-US" dirty="0"/>
              <a:t>명 </a:t>
            </a:r>
            <a:r>
              <a:rPr lang="en-US" altLang="ko-KR" dirty="0"/>
              <a:t>× 13.5</a:t>
            </a:r>
            <a:r>
              <a:rPr lang="ko-KR" altLang="en-US" dirty="0"/>
              <a:t>시간 </a:t>
            </a:r>
            <a:r>
              <a:rPr lang="en-US" altLang="ko-KR" dirty="0"/>
              <a:t>= 81 m/h </a:t>
            </a:r>
          </a:p>
          <a:p>
            <a:pPr algn="ctr"/>
            <a:r>
              <a:rPr lang="en-US" altLang="ko-KR" dirty="0"/>
              <a:t>TO-BE </a:t>
            </a:r>
            <a:r>
              <a:rPr lang="ko-KR" altLang="en-US" dirty="0"/>
              <a:t>총 투입 인력</a:t>
            </a:r>
            <a:r>
              <a:rPr lang="en-US" altLang="ko-KR" dirty="0"/>
              <a:t>: 1</a:t>
            </a:r>
            <a:r>
              <a:rPr lang="ko-KR" altLang="en-US" dirty="0"/>
              <a:t>명 </a:t>
            </a:r>
            <a:r>
              <a:rPr lang="en-US" altLang="ko-KR" dirty="0"/>
              <a:t>× 0.18</a:t>
            </a:r>
            <a:r>
              <a:rPr lang="ko-KR" altLang="en-US" dirty="0"/>
              <a:t>시간 </a:t>
            </a:r>
            <a:r>
              <a:rPr lang="en-US" altLang="ko-KR" dirty="0"/>
              <a:t>= 0.18 m/h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시간 </a:t>
            </a:r>
            <a:r>
              <a:rPr lang="ko-KR" altLang="en-US" dirty="0" err="1"/>
              <a:t>단축률</a:t>
            </a:r>
            <a:r>
              <a:rPr lang="en-US" altLang="ko-KR" dirty="0"/>
              <a:t>: (1 - 0.18</a:t>
            </a:r>
            <a:r>
              <a:rPr lang="ko-KR" altLang="en-US" dirty="0"/>
              <a:t>시간</a:t>
            </a:r>
            <a:r>
              <a:rPr lang="en-US" altLang="ko-KR" dirty="0"/>
              <a:t>/13.5</a:t>
            </a:r>
            <a:r>
              <a:rPr lang="ko-KR" altLang="en-US" dirty="0"/>
              <a:t>시간</a:t>
            </a:r>
            <a:r>
              <a:rPr lang="en-US" altLang="ko-KR" dirty="0"/>
              <a:t>) × 100 = 98% </a:t>
            </a:r>
            <a:r>
              <a:rPr lang="ko-KR" altLang="en-US" dirty="0"/>
              <a:t>시간 단축</a:t>
            </a:r>
          </a:p>
        </p:txBody>
      </p:sp>
    </p:spTree>
    <p:extLst>
      <p:ext uri="{BB962C8B-B14F-4D97-AF65-F5344CB8AC3E}">
        <p14:creationId xmlns:p14="http://schemas.microsoft.com/office/powerpoint/2010/main" val="2727289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3410A-834A-61FD-466A-EC6F942B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20FC856A-9189-82B1-4C44-AC85DEEC6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2562534"/>
            <a:ext cx="6638095" cy="257142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47FAB13-152E-DDED-4B47-B6E279A5B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1206500"/>
            <a:ext cx="14376400" cy="774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DFBDCB6-A254-1C8C-77CB-7E3FA7EC2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7DE7485-D85B-F3A8-C181-8A12395E9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FBC0752-268E-6B48-D1DA-A6B768F57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1206500"/>
            <a:ext cx="144018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450E455-2440-F0D1-7CF2-E82386980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300" y="1981200"/>
            <a:ext cx="144653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67C5D03-91D2-7F97-3D9D-E97E993644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948AF21-1823-9D02-01B9-A8B7173FA26D}"/>
              </a:ext>
            </a:extLst>
          </p:cNvPr>
          <p:cNvSpPr txBox="1"/>
          <p:nvPr/>
        </p:nvSpPr>
        <p:spPr>
          <a:xfrm>
            <a:off x="3670300" y="1371600"/>
            <a:ext cx="137668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400" b="0" i="0" u="none" strike="noStrike" dirty="0" err="1">
                <a:solidFill>
                  <a:srgbClr val="000000"/>
                </a:solidFill>
                <a:ea typeface="Pretendard Medium"/>
              </a:rPr>
              <a:t>언팩</a:t>
            </a:r>
            <a:r>
              <a:rPr lang="ko-KR" altLang="en-US" sz="2400" b="0" i="0" u="none" strike="noStrike" dirty="0">
                <a:solidFill>
                  <a:srgbClr val="000000"/>
                </a:solidFill>
                <a:ea typeface="Pretendard Medium"/>
              </a:rPr>
              <a:t> 자동화 기</a:t>
            </a:r>
            <a:r>
              <a:rPr lang="ko-KR" altLang="en-US" sz="2400" dirty="0">
                <a:solidFill>
                  <a:srgbClr val="000000"/>
                </a:solidFill>
                <a:ea typeface="Pretendard Medium"/>
              </a:rPr>
              <a:t>능</a:t>
            </a:r>
            <a:endParaRPr lang="ko-KR" sz="2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2F21D5-DF8F-DEEC-6D42-BF42002A3075}"/>
              </a:ext>
            </a:extLst>
          </p:cNvPr>
          <p:cNvSpPr txBox="1"/>
          <p:nvPr/>
        </p:nvSpPr>
        <p:spPr>
          <a:xfrm>
            <a:off x="698500" y="1244600"/>
            <a:ext cx="2654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200" b="1" i="0" u="none" strike="noStrike" dirty="0">
                <a:solidFill>
                  <a:srgbClr val="0063BA"/>
                </a:solidFill>
                <a:latin typeface="Pretendard Bold"/>
              </a:rPr>
              <a:t>자동화</a:t>
            </a:r>
            <a:endParaRPr lang="en-US" sz="4200" b="1" i="0" u="none" strike="noStrike" dirty="0">
              <a:solidFill>
                <a:srgbClr val="0063BA"/>
              </a:solidFill>
              <a:latin typeface="Pretendard Bold"/>
            </a:endParaRP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AA6C2274-57B5-5E4A-561C-F968B5FBCE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" y="2192339"/>
            <a:ext cx="3124200" cy="317501"/>
          </a:xfrm>
          <a:prstGeom prst="rect">
            <a:avLst/>
          </a:prstGeom>
        </p:spPr>
      </p:pic>
      <p:sp>
        <p:nvSpPr>
          <p:cNvPr id="17" name="TextBox 13">
            <a:extLst>
              <a:ext uri="{FF2B5EF4-FFF2-40B4-BE49-F238E27FC236}">
                <a16:creationId xmlns:a16="http://schemas.microsoft.com/office/drawing/2014/main" id="{B1FC7A26-D471-74DF-6E86-7022AB7E074D}"/>
              </a:ext>
            </a:extLst>
          </p:cNvPr>
          <p:cNvSpPr txBox="1"/>
          <p:nvPr/>
        </p:nvSpPr>
        <p:spPr>
          <a:xfrm>
            <a:off x="237452" y="2232026"/>
            <a:ext cx="2839795" cy="2381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sz="1100" dirty="0">
                <a:solidFill>
                  <a:srgbClr val="0063BA"/>
                </a:solidFill>
                <a:latin typeface="Pretendard SemiBold"/>
              </a:rPr>
              <a:t>QA</a:t>
            </a:r>
            <a:r>
              <a:rPr lang="ko-KR" altLang="en-US" sz="1100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en-US" altLang="ko-KR" sz="1100" dirty="0">
                <a:solidFill>
                  <a:srgbClr val="0063BA"/>
                </a:solidFill>
                <a:latin typeface="Pretendard SemiBold"/>
              </a:rPr>
              <a:t>Sheet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1FECAC-A3BE-40FB-8181-1190B6B1956A}"/>
              </a:ext>
            </a:extLst>
          </p:cNvPr>
          <p:cNvSpPr txBox="1"/>
          <p:nvPr/>
        </p:nvSpPr>
        <p:spPr>
          <a:xfrm>
            <a:off x="3314701" y="2054299"/>
            <a:ext cx="14376400" cy="39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1800" dirty="0" err="1">
                <a:solidFill>
                  <a:srgbClr val="FF0000"/>
                </a:solidFill>
                <a:ea typeface="Pretendard Medium"/>
              </a:rPr>
              <a:t>보안룸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 특성상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, Adobe DTM script block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처리되어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Network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 불가능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element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확인하여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sheet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기입</a:t>
            </a:r>
            <a:endParaRPr lang="ko-KR" altLang="ko-KR" sz="1800" b="0" i="0" u="none" strike="noStrike" dirty="0">
              <a:solidFill>
                <a:srgbClr val="FF0000"/>
              </a:solidFill>
              <a:ea typeface="Pretendard Medium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EDF55B-78FA-4F7A-1138-96A2AECF49DF}"/>
              </a:ext>
            </a:extLst>
          </p:cNvPr>
          <p:cNvSpPr/>
          <p:nvPr/>
        </p:nvSpPr>
        <p:spPr>
          <a:xfrm rot="20531166">
            <a:off x="4473455" y="3815440"/>
            <a:ext cx="2261350" cy="7064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r>
              <a:rPr lang="ko-KR" altLang="en-US" dirty="0"/>
              <a:t>개국</a:t>
            </a:r>
          </a:p>
        </p:txBody>
      </p:sp>
      <p:pic>
        <p:nvPicPr>
          <p:cNvPr id="27" name="Picture 11">
            <a:extLst>
              <a:ext uri="{FF2B5EF4-FFF2-40B4-BE49-F238E27FC236}">
                <a16:creationId xmlns:a16="http://schemas.microsoft.com/office/drawing/2014/main" id="{17CBE0E3-9730-B148-8287-C808943EA0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3402" y="5312242"/>
            <a:ext cx="4038600" cy="4313878"/>
          </a:xfrm>
          <a:prstGeom prst="rect">
            <a:avLst/>
          </a:prstGeom>
        </p:spPr>
      </p:pic>
      <p:sp>
        <p:nvSpPr>
          <p:cNvPr id="28" name="TextBox 14">
            <a:extLst>
              <a:ext uri="{FF2B5EF4-FFF2-40B4-BE49-F238E27FC236}">
                <a16:creationId xmlns:a16="http://schemas.microsoft.com/office/drawing/2014/main" id="{BD1512F1-E311-3185-E810-80029A38BEEF}"/>
              </a:ext>
            </a:extLst>
          </p:cNvPr>
          <p:cNvSpPr txBox="1"/>
          <p:nvPr/>
        </p:nvSpPr>
        <p:spPr>
          <a:xfrm>
            <a:off x="8400292" y="5404144"/>
            <a:ext cx="3784821" cy="403192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sz="1200" dirty="0">
                <a:solidFill>
                  <a:srgbClr val="000000"/>
                </a:solidFill>
                <a:latin typeface="Pretendard Regular"/>
              </a:rPr>
              <a:t>QA) </a:t>
            </a:r>
            <a:r>
              <a:rPr lang="ko-KR" altLang="en-US" sz="1200" b="1" dirty="0"/>
              <a:t>라이브 스트리밍 시작 </a:t>
            </a:r>
            <a:r>
              <a:rPr lang="en-US" altLang="ko-KR" sz="1200" b="1" dirty="0"/>
              <a:t>90</a:t>
            </a:r>
            <a:r>
              <a:rPr lang="ko-KR" altLang="en-US" sz="1200" b="1" dirty="0"/>
              <a:t>개국 </a:t>
            </a:r>
            <a:r>
              <a:rPr lang="en-US" altLang="ko-KR" sz="1200" b="1" dirty="0"/>
              <a:t>Home </a:t>
            </a:r>
            <a:r>
              <a:rPr lang="ko-KR" altLang="en-US" sz="1200" b="1" dirty="0"/>
              <a:t>접속 시 </a:t>
            </a:r>
            <a:r>
              <a:rPr lang="ko-KR" altLang="en-US" sz="1200" b="1" dirty="0" err="1"/>
              <a:t>리다이렉트</a:t>
            </a:r>
            <a:r>
              <a:rPr lang="ko-KR" altLang="en-US" sz="1200" b="1" dirty="0"/>
              <a:t> 주소 기입</a:t>
            </a:r>
            <a:endParaRPr lang="en-US" altLang="ko-KR" sz="1200" dirty="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AS-IS)</a:t>
            </a:r>
            <a:endParaRPr lang="en-US" altLang="ko-KR" sz="1200" b="0" i="0" u="none" strike="noStrike" dirty="0">
              <a:solidFill>
                <a:srgbClr val="000000"/>
              </a:solidFill>
              <a:highlight>
                <a:srgbClr val="FFFF00"/>
              </a:highlight>
              <a:latin typeface="Pretendard Regular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총 페이지 수</a:t>
            </a:r>
            <a:r>
              <a:rPr lang="en-US" altLang="ko-KR" sz="1200" dirty="0"/>
              <a:t>: 90</a:t>
            </a:r>
            <a:r>
              <a:rPr lang="ko-KR" altLang="en-US" sz="1200" dirty="0"/>
              <a:t>개 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페이지당 확인 항목</a:t>
            </a:r>
            <a:r>
              <a:rPr lang="en-US" altLang="ko-KR" sz="1200" dirty="0"/>
              <a:t>: 1</a:t>
            </a:r>
            <a:r>
              <a:rPr lang="ko-KR" altLang="en-US" sz="1200" dirty="0"/>
              <a:t>개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총 확인 항목</a:t>
            </a:r>
            <a:r>
              <a:rPr lang="en-US" altLang="ko-KR" sz="1200" dirty="0"/>
              <a:t>: 90 × 1 = 90</a:t>
            </a:r>
            <a:r>
              <a:rPr lang="ko-KR" altLang="en-US" sz="1200" dirty="0"/>
              <a:t>개 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소요 시간 </a:t>
            </a:r>
            <a:r>
              <a:rPr lang="en-US" altLang="ko-KR" sz="1200" dirty="0"/>
              <a:t>: 1</a:t>
            </a:r>
            <a:r>
              <a:rPr lang="ko-KR" altLang="en-US" sz="1200" dirty="0"/>
              <a:t> </a:t>
            </a:r>
            <a:r>
              <a:rPr lang="en-US" altLang="ko-KR" sz="1200" dirty="0"/>
              <a:t>Case</a:t>
            </a:r>
            <a:r>
              <a:rPr lang="ko-KR" altLang="en-US" sz="1200" dirty="0"/>
              <a:t> 수행 시 약 </a:t>
            </a:r>
            <a:r>
              <a:rPr lang="en-US" altLang="ko-KR" sz="1200" dirty="0">
                <a:solidFill>
                  <a:srgbClr val="FF0000"/>
                </a:solidFill>
              </a:rPr>
              <a:t>3~5</a:t>
            </a:r>
            <a:r>
              <a:rPr lang="ko-KR" altLang="en-US" sz="1200" dirty="0">
                <a:solidFill>
                  <a:srgbClr val="FF0000"/>
                </a:solidFill>
              </a:rPr>
              <a:t>초 소요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/>
              <a:t>(</a:t>
            </a:r>
            <a:r>
              <a:rPr lang="ko-KR" altLang="en-US" sz="1200" dirty="0"/>
              <a:t>페이지로드</a:t>
            </a:r>
            <a:r>
              <a:rPr lang="en-US" altLang="ko-KR" sz="1200" dirty="0"/>
              <a:t>, </a:t>
            </a:r>
            <a:r>
              <a:rPr lang="ko-KR" altLang="en-US" sz="1200" dirty="0"/>
              <a:t>컬럼 확인</a:t>
            </a:r>
            <a:r>
              <a:rPr lang="en-US" altLang="ko-KR" sz="1200" dirty="0"/>
              <a:t>, </a:t>
            </a:r>
            <a:r>
              <a:rPr lang="ko-KR" altLang="en-US" sz="1200" dirty="0"/>
              <a:t>결과 기재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실측값</a:t>
            </a:r>
            <a:r>
              <a:rPr lang="en-US" altLang="ko-KR" sz="1200" dirty="0"/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총 작업 시간</a:t>
            </a:r>
            <a:r>
              <a:rPr lang="en-US" altLang="ko-KR" sz="1200" dirty="0"/>
              <a:t>: 90 Case × 4</a:t>
            </a:r>
            <a:r>
              <a:rPr lang="ko-KR" altLang="en-US" sz="1200" dirty="0"/>
              <a:t>초 </a:t>
            </a:r>
            <a:r>
              <a:rPr lang="en-US" altLang="ko-KR" sz="1200" dirty="0"/>
              <a:t>=360</a:t>
            </a:r>
            <a:r>
              <a:rPr lang="ko-KR" altLang="en-US" sz="1200" dirty="0"/>
              <a:t>초 </a:t>
            </a:r>
            <a:r>
              <a:rPr lang="en-US" altLang="ko-KR" sz="1200" dirty="0"/>
              <a:t>(</a:t>
            </a:r>
            <a:r>
              <a:rPr lang="ko-KR" altLang="en-US" sz="1200" dirty="0"/>
              <a:t>약 </a:t>
            </a:r>
            <a:r>
              <a:rPr lang="en-US" altLang="ko-KR" sz="1200" dirty="0"/>
              <a:t>6</a:t>
            </a:r>
            <a:r>
              <a:rPr lang="ko-KR" altLang="en-US" sz="1200" dirty="0"/>
              <a:t>분</a:t>
            </a:r>
            <a:r>
              <a:rPr lang="en-US" altLang="ko-KR" sz="1200" dirty="0"/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/>
              <a:t>QA </a:t>
            </a:r>
            <a:r>
              <a:rPr lang="ko-KR" altLang="en-US" sz="1200" dirty="0"/>
              <a:t>가용인원</a:t>
            </a:r>
            <a:r>
              <a:rPr lang="en-US" altLang="ko-KR" sz="1200" dirty="0"/>
              <a:t>: </a:t>
            </a:r>
            <a:r>
              <a:rPr lang="ko-KR" altLang="en-US" sz="1200" dirty="0"/>
              <a:t>＆명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실제 소요 시간</a:t>
            </a:r>
            <a:r>
              <a:rPr lang="en-US" altLang="ko-KR" sz="1200" dirty="0"/>
              <a:t>: 6</a:t>
            </a:r>
            <a:r>
              <a:rPr lang="ko-KR" altLang="en-US" sz="1200" dirty="0"/>
              <a:t>분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b="1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b="1" dirty="0">
                <a:highlight>
                  <a:srgbClr val="FFFF00"/>
                </a:highlight>
              </a:rPr>
              <a:t>TO-BE)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b="1" dirty="0"/>
              <a:t>소요 시간 </a:t>
            </a:r>
            <a:r>
              <a:rPr lang="en-US" altLang="ko-KR" sz="1200" b="1" dirty="0"/>
              <a:t>: 1</a:t>
            </a:r>
            <a:r>
              <a:rPr lang="ko-KR" altLang="en-US" sz="1200" b="1" dirty="0"/>
              <a:t>분 이내 </a:t>
            </a:r>
            <a:endParaRPr lang="en-US" altLang="ko-KR" sz="1200" b="1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838F404-EF36-F86A-5D42-45B9F53C64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0" y="5249398"/>
            <a:ext cx="4566300" cy="4537716"/>
          </a:xfrm>
          <a:prstGeom prst="rect">
            <a:avLst/>
          </a:prstGeom>
        </p:spPr>
      </p:pic>
      <p:pic>
        <p:nvPicPr>
          <p:cNvPr id="29" name="Picture 12">
            <a:extLst>
              <a:ext uri="{FF2B5EF4-FFF2-40B4-BE49-F238E27FC236}">
                <a16:creationId xmlns:a16="http://schemas.microsoft.com/office/drawing/2014/main" id="{4BD71681-23FD-63F4-F0CE-870D3A978C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" y="2564132"/>
            <a:ext cx="3124200" cy="2636827"/>
          </a:xfrm>
          <a:prstGeom prst="rect">
            <a:avLst/>
          </a:prstGeom>
        </p:spPr>
      </p:pic>
      <p:sp>
        <p:nvSpPr>
          <p:cNvPr id="30" name="TextBox 13">
            <a:extLst>
              <a:ext uri="{FF2B5EF4-FFF2-40B4-BE49-F238E27FC236}">
                <a16:creationId xmlns:a16="http://schemas.microsoft.com/office/drawing/2014/main" id="{56E098CC-1DD1-4A3A-BF28-CDDEA2982E0E}"/>
              </a:ext>
            </a:extLst>
          </p:cNvPr>
          <p:cNvSpPr txBox="1"/>
          <p:nvPr/>
        </p:nvSpPr>
        <p:spPr>
          <a:xfrm>
            <a:off x="237452" y="2540001"/>
            <a:ext cx="2839795" cy="248571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sz="1600" dirty="0">
                <a:solidFill>
                  <a:srgbClr val="0063BA"/>
                </a:solidFill>
                <a:latin typeface="Pretendard SemiBold"/>
              </a:rPr>
              <a:t>2.Galaxy Livestreaming, Home KV, </a:t>
            </a:r>
            <a:r>
              <a:rPr lang="en-US" sz="1600" dirty="0" err="1">
                <a:solidFill>
                  <a:srgbClr val="0063BA"/>
                </a:solidFill>
                <a:latin typeface="Pretendard SemiBold"/>
              </a:rPr>
              <a:t>Redirection_Tagging</a:t>
            </a:r>
            <a:r>
              <a:rPr lang="en-US" sz="1600" dirty="0">
                <a:solidFill>
                  <a:srgbClr val="0063BA"/>
                </a:solidFill>
                <a:latin typeface="Pretendard SemiBold"/>
              </a:rPr>
              <a:t> Status.xlsx</a:t>
            </a:r>
          </a:p>
          <a:p>
            <a:pPr lvl="0">
              <a:lnSpc>
                <a:spcPct val="116199"/>
              </a:lnSpc>
            </a:pPr>
            <a:endParaRPr lang="en-US" sz="1600" dirty="0">
              <a:solidFill>
                <a:srgbClr val="0063BA"/>
              </a:solidFill>
              <a:latin typeface="Pretendard SemiBold"/>
            </a:endParaRPr>
          </a:p>
          <a:p>
            <a:pPr lvl="0">
              <a:lnSpc>
                <a:spcPct val="116199"/>
              </a:lnSpc>
            </a:pPr>
            <a:r>
              <a:rPr lang="en-US" sz="1100" dirty="0">
                <a:solidFill>
                  <a:srgbClr val="0063BA"/>
                </a:solidFill>
                <a:latin typeface="Pretendard SemiBold"/>
              </a:rPr>
              <a:t>-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retendard SemiBold"/>
              </a:rPr>
              <a:t>Home KV</a:t>
            </a:r>
            <a:r>
              <a:rPr lang="ko-KR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retendard SemiBold"/>
              </a:rPr>
              <a:t> </a:t>
            </a:r>
            <a:r>
              <a:rPr lang="en-US" altLang="ko-KR" sz="11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retendard SemiBold"/>
              </a:rPr>
              <a:t>Data  </a:t>
            </a:r>
            <a:r>
              <a:rPr lang="en-US" altLang="ko-KR" sz="1100" b="1" dirty="0">
                <a:solidFill>
                  <a:srgbClr val="0063BA"/>
                </a:solidFill>
                <a:latin typeface="Pretendard SemiBold"/>
              </a:rPr>
              <a:t>/ </a:t>
            </a:r>
            <a:r>
              <a:rPr lang="en-US" altLang="ko-KR" sz="1400" u="sng" dirty="0">
                <a:solidFill>
                  <a:srgbClr val="0063BA"/>
                </a:solidFill>
                <a:latin typeface="Pretendard SemiBold"/>
              </a:rPr>
              <a:t>Home Redirection</a:t>
            </a:r>
            <a:endParaRPr lang="en-US" altLang="ko-KR" sz="1100" u="sng" dirty="0">
              <a:solidFill>
                <a:srgbClr val="0063BA"/>
              </a:solidFill>
              <a:latin typeface="Pretendard SemiBol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DC6311-37C0-9EC8-7411-D28B78DC5E0A}"/>
              </a:ext>
            </a:extLst>
          </p:cNvPr>
          <p:cNvSpPr/>
          <p:nvPr/>
        </p:nvSpPr>
        <p:spPr>
          <a:xfrm>
            <a:off x="10171870" y="3965022"/>
            <a:ext cx="6155147" cy="13385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AS-IS </a:t>
            </a:r>
            <a:r>
              <a:rPr lang="ko-KR" altLang="en-US" dirty="0"/>
              <a:t>총 투입 인력</a:t>
            </a:r>
            <a:r>
              <a:rPr lang="en-US" altLang="ko-KR" dirty="0"/>
              <a:t>: 1</a:t>
            </a:r>
            <a:r>
              <a:rPr lang="ko-KR" altLang="en-US" dirty="0"/>
              <a:t>명 </a:t>
            </a:r>
            <a:r>
              <a:rPr lang="en-US" altLang="ko-KR" dirty="0"/>
              <a:t>× 0.1</a:t>
            </a:r>
            <a:r>
              <a:rPr lang="ko-KR" altLang="en-US" dirty="0"/>
              <a:t>시간 </a:t>
            </a:r>
            <a:r>
              <a:rPr lang="en-US" altLang="ko-KR" dirty="0"/>
              <a:t>= 0.1 m/h</a:t>
            </a:r>
          </a:p>
          <a:p>
            <a:pPr algn="ctr"/>
            <a:r>
              <a:rPr lang="en-US" altLang="ko-KR" dirty="0"/>
              <a:t>TO-BE </a:t>
            </a:r>
            <a:r>
              <a:rPr lang="ko-KR" altLang="en-US" dirty="0"/>
              <a:t>총 투입 인력</a:t>
            </a:r>
            <a:r>
              <a:rPr lang="en-US" altLang="ko-KR" dirty="0"/>
              <a:t>: 1</a:t>
            </a:r>
            <a:r>
              <a:rPr lang="ko-KR" altLang="en-US" dirty="0"/>
              <a:t>명 </a:t>
            </a:r>
            <a:r>
              <a:rPr lang="en-US" altLang="ko-KR" dirty="0"/>
              <a:t>× 0.017</a:t>
            </a:r>
            <a:r>
              <a:rPr lang="ko-KR" altLang="en-US" dirty="0"/>
              <a:t>시간 </a:t>
            </a:r>
            <a:r>
              <a:rPr lang="en-US" altLang="ko-KR" dirty="0"/>
              <a:t>= 0.017 m/h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시간 </a:t>
            </a:r>
            <a:r>
              <a:rPr lang="ko-KR" altLang="en-US" dirty="0" err="1"/>
              <a:t>단축률</a:t>
            </a:r>
            <a:r>
              <a:rPr lang="en-US" altLang="ko-KR" dirty="0"/>
              <a:t>: (1 - 0.017</a:t>
            </a:r>
            <a:r>
              <a:rPr lang="ko-KR" altLang="en-US" dirty="0"/>
              <a:t>시간</a:t>
            </a:r>
            <a:r>
              <a:rPr lang="en-US" altLang="ko-KR" dirty="0"/>
              <a:t>/0.1</a:t>
            </a:r>
            <a:r>
              <a:rPr lang="ko-KR" altLang="en-US" dirty="0"/>
              <a:t>시간</a:t>
            </a:r>
            <a:r>
              <a:rPr lang="en-US" altLang="ko-KR" dirty="0"/>
              <a:t>) × 100 = 83% </a:t>
            </a:r>
            <a:r>
              <a:rPr lang="ko-KR" altLang="en-US" dirty="0"/>
              <a:t>시간 단축</a:t>
            </a:r>
          </a:p>
        </p:txBody>
      </p:sp>
    </p:spTree>
    <p:extLst>
      <p:ext uri="{BB962C8B-B14F-4D97-AF65-F5344CB8AC3E}">
        <p14:creationId xmlns:p14="http://schemas.microsoft.com/office/powerpoint/2010/main" val="2815424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F526F-C670-0515-B36D-BFDC4BEAC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A87DA05-6553-E4B1-AD6F-C3A75DD1F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652" y="2536073"/>
            <a:ext cx="5629948" cy="2623044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C10D9D1-92E5-5DE3-F4CC-188A9ABE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00" y="1206500"/>
            <a:ext cx="14376400" cy="774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12469D0-59ED-9936-758A-0904F859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3147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6736B3B-3E65-98DC-00E8-82F3B03EB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0"/>
            <a:ext cx="14973300" cy="317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C36A366-29AA-4691-250E-6CA910682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4700" y="1206500"/>
            <a:ext cx="144018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BEFCB27-7B03-AD92-D2EC-E2D1EA76C8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300" y="1981200"/>
            <a:ext cx="144653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A4C40383-9E7B-037A-47A3-55BD2490D6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4700" y="9804400"/>
            <a:ext cx="143002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AE9F0876-4EDF-E243-0779-19D86431923D}"/>
              </a:ext>
            </a:extLst>
          </p:cNvPr>
          <p:cNvSpPr txBox="1"/>
          <p:nvPr/>
        </p:nvSpPr>
        <p:spPr>
          <a:xfrm>
            <a:off x="3670300" y="1371600"/>
            <a:ext cx="137668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400" b="0" i="0" u="none" strike="noStrike" dirty="0" err="1">
                <a:solidFill>
                  <a:srgbClr val="000000"/>
                </a:solidFill>
                <a:ea typeface="Pretendard Medium"/>
              </a:rPr>
              <a:t>언팩</a:t>
            </a:r>
            <a:r>
              <a:rPr lang="ko-KR" altLang="en-US" sz="2400" b="0" i="0" u="none" strike="noStrike" dirty="0">
                <a:solidFill>
                  <a:srgbClr val="000000"/>
                </a:solidFill>
                <a:ea typeface="Pretendard Medium"/>
              </a:rPr>
              <a:t> 자동화 기</a:t>
            </a:r>
            <a:r>
              <a:rPr lang="ko-KR" altLang="en-US" sz="2400" dirty="0">
                <a:solidFill>
                  <a:srgbClr val="000000"/>
                </a:solidFill>
                <a:ea typeface="Pretendard Medium"/>
              </a:rPr>
              <a:t>능</a:t>
            </a:r>
            <a:endParaRPr lang="ko-KR" sz="2400" b="0" i="0" u="none" strike="noStrike" dirty="0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25BE2C0-2038-6378-DB2E-73DF9254399C}"/>
              </a:ext>
            </a:extLst>
          </p:cNvPr>
          <p:cNvSpPr txBox="1"/>
          <p:nvPr/>
        </p:nvSpPr>
        <p:spPr>
          <a:xfrm>
            <a:off x="698500" y="1244600"/>
            <a:ext cx="2654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200" b="1" i="0" u="none" strike="noStrike" dirty="0">
                <a:solidFill>
                  <a:srgbClr val="0063BA"/>
                </a:solidFill>
                <a:latin typeface="Pretendard Bold"/>
              </a:rPr>
              <a:t>자동화</a:t>
            </a:r>
            <a:endParaRPr lang="en-US" sz="4200" b="1" i="0" u="none" strike="noStrike" dirty="0">
              <a:solidFill>
                <a:srgbClr val="0063BA"/>
              </a:solidFill>
              <a:latin typeface="Pretendard Bold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4D86386D-AF75-F8CE-9F2C-37B81C986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" y="2564133"/>
            <a:ext cx="3124200" cy="1844678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B39C93EA-B252-7DE4-87EC-D30FBF899E0E}"/>
              </a:ext>
            </a:extLst>
          </p:cNvPr>
          <p:cNvSpPr txBox="1"/>
          <p:nvPr/>
        </p:nvSpPr>
        <p:spPr>
          <a:xfrm>
            <a:off x="237452" y="2540001"/>
            <a:ext cx="2839795" cy="17652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br>
              <a:rPr lang="en-US" sz="1100" dirty="0">
                <a:solidFill>
                  <a:srgbClr val="0063BA"/>
                </a:solidFill>
                <a:latin typeface="Pretendard SemiBold"/>
              </a:rPr>
            </a:br>
            <a:r>
              <a:rPr lang="en-US" sz="1100" dirty="0">
                <a:solidFill>
                  <a:srgbClr val="0063BA"/>
                </a:solidFill>
                <a:latin typeface="Pretendard SemiBold"/>
              </a:rPr>
              <a:t>3. Action Tracking.xlsx</a:t>
            </a:r>
          </a:p>
          <a:p>
            <a:pPr lvl="0">
              <a:lnSpc>
                <a:spcPct val="116199"/>
              </a:lnSpc>
            </a:pPr>
            <a:r>
              <a:rPr lang="en-US" sz="1600" dirty="0">
                <a:solidFill>
                  <a:srgbClr val="0063BA"/>
                </a:solidFill>
                <a:latin typeface="Pretendard SemiBold"/>
              </a:rPr>
              <a:t>- Navi Authoring Issue</a:t>
            </a: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BC3806DD-ED96-4111-9192-4D8EDDDD64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" y="2192339"/>
            <a:ext cx="3124200" cy="317501"/>
          </a:xfrm>
          <a:prstGeom prst="rect">
            <a:avLst/>
          </a:prstGeom>
        </p:spPr>
      </p:pic>
      <p:sp>
        <p:nvSpPr>
          <p:cNvPr id="17" name="TextBox 13">
            <a:extLst>
              <a:ext uri="{FF2B5EF4-FFF2-40B4-BE49-F238E27FC236}">
                <a16:creationId xmlns:a16="http://schemas.microsoft.com/office/drawing/2014/main" id="{804E97B8-3942-7430-A8F0-F443066C118D}"/>
              </a:ext>
            </a:extLst>
          </p:cNvPr>
          <p:cNvSpPr txBox="1"/>
          <p:nvPr/>
        </p:nvSpPr>
        <p:spPr>
          <a:xfrm>
            <a:off x="237452" y="2232026"/>
            <a:ext cx="2839795" cy="2381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sz="1100" dirty="0">
                <a:solidFill>
                  <a:srgbClr val="0063BA"/>
                </a:solidFill>
                <a:latin typeface="Pretendard SemiBold"/>
              </a:rPr>
              <a:t>QA</a:t>
            </a:r>
            <a:r>
              <a:rPr lang="ko-KR" altLang="en-US" sz="1100" dirty="0">
                <a:solidFill>
                  <a:srgbClr val="0063BA"/>
                </a:solidFill>
                <a:latin typeface="Pretendard SemiBold"/>
              </a:rPr>
              <a:t> </a:t>
            </a:r>
            <a:r>
              <a:rPr lang="en-US" altLang="ko-KR" sz="1100" dirty="0">
                <a:solidFill>
                  <a:srgbClr val="0063BA"/>
                </a:solidFill>
                <a:latin typeface="Pretendard SemiBold"/>
              </a:rPr>
              <a:t>Sheet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7B3AC3-9291-7B00-DDF8-90576D0DFE98}"/>
              </a:ext>
            </a:extLst>
          </p:cNvPr>
          <p:cNvSpPr txBox="1"/>
          <p:nvPr/>
        </p:nvSpPr>
        <p:spPr>
          <a:xfrm>
            <a:off x="3314701" y="2054299"/>
            <a:ext cx="14376400" cy="39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1800" dirty="0" err="1">
                <a:solidFill>
                  <a:srgbClr val="FF0000"/>
                </a:solidFill>
                <a:ea typeface="Pretendard Medium"/>
              </a:rPr>
              <a:t>보안룸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 특성상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, Adobe DTM script block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처리되어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Network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 불가능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element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확인하여 </a:t>
            </a:r>
            <a:r>
              <a:rPr lang="en-US" altLang="ko-KR" sz="1800" dirty="0">
                <a:solidFill>
                  <a:srgbClr val="FF0000"/>
                </a:solidFill>
                <a:ea typeface="Pretendard Medium"/>
              </a:rPr>
              <a:t>sheet </a:t>
            </a:r>
            <a:r>
              <a:rPr lang="ko-KR" altLang="en-US" sz="1800" dirty="0">
                <a:solidFill>
                  <a:srgbClr val="FF0000"/>
                </a:solidFill>
                <a:ea typeface="Pretendard Medium"/>
              </a:rPr>
              <a:t>기입</a:t>
            </a:r>
            <a:endParaRPr lang="ko-KR" altLang="ko-KR" sz="1800" b="0" i="0" u="none" strike="noStrike" dirty="0">
              <a:solidFill>
                <a:srgbClr val="FF0000"/>
              </a:solidFill>
              <a:ea typeface="Pretendard Medium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E9B4153-6135-A68B-F3A0-811DF42FE03D}"/>
              </a:ext>
            </a:extLst>
          </p:cNvPr>
          <p:cNvSpPr/>
          <p:nvPr/>
        </p:nvSpPr>
        <p:spPr>
          <a:xfrm rot="20531166">
            <a:off x="4473455" y="3815440"/>
            <a:ext cx="2261350" cy="70647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90</a:t>
            </a:r>
            <a:r>
              <a:rPr lang="ko-KR" altLang="en-US" dirty="0"/>
              <a:t>개국</a:t>
            </a:r>
          </a:p>
        </p:txBody>
      </p:sp>
      <p:pic>
        <p:nvPicPr>
          <p:cNvPr id="27" name="Picture 11">
            <a:extLst>
              <a:ext uri="{FF2B5EF4-FFF2-40B4-BE49-F238E27FC236}">
                <a16:creationId xmlns:a16="http://schemas.microsoft.com/office/drawing/2014/main" id="{8380422A-60E9-F576-0736-DFC70B954D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001" y="5200960"/>
            <a:ext cx="4038600" cy="4313878"/>
          </a:xfrm>
          <a:prstGeom prst="rect">
            <a:avLst/>
          </a:prstGeom>
        </p:spPr>
      </p:pic>
      <p:sp>
        <p:nvSpPr>
          <p:cNvPr id="28" name="TextBox 14">
            <a:extLst>
              <a:ext uri="{FF2B5EF4-FFF2-40B4-BE49-F238E27FC236}">
                <a16:creationId xmlns:a16="http://schemas.microsoft.com/office/drawing/2014/main" id="{044063A5-92C6-B133-E1DD-5E99AA230693}"/>
              </a:ext>
            </a:extLst>
          </p:cNvPr>
          <p:cNvSpPr txBox="1"/>
          <p:nvPr/>
        </p:nvSpPr>
        <p:spPr>
          <a:xfrm>
            <a:off x="13855479" y="5302576"/>
            <a:ext cx="3784821" cy="403192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sz="1200" dirty="0">
                <a:solidFill>
                  <a:srgbClr val="000000"/>
                </a:solidFill>
                <a:latin typeface="Pretendard Regular"/>
              </a:rPr>
              <a:t>QA) </a:t>
            </a:r>
            <a:r>
              <a:rPr lang="ko-KR" altLang="en-US" sz="1200" dirty="0">
                <a:solidFill>
                  <a:srgbClr val="000000"/>
                </a:solidFill>
                <a:latin typeface="Pretendard Regular"/>
              </a:rPr>
              <a:t>전 국가 제품별</a:t>
            </a:r>
            <a:r>
              <a:rPr lang="en-US" sz="12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-US" sz="1200" b="0" i="0" u="none" strike="noStrike" dirty="0">
                <a:solidFill>
                  <a:srgbClr val="000000"/>
                </a:solidFill>
                <a:latin typeface="Pretendard Regular"/>
              </a:rPr>
              <a:t>Flagship PDP</a:t>
            </a:r>
            <a:r>
              <a:rPr lang="ko-KR" altLang="en-US" sz="1200" dirty="0">
                <a:solidFill>
                  <a:srgbClr val="000000"/>
                </a:solidFill>
                <a:latin typeface="Pretendard Regular"/>
              </a:rPr>
              <a:t> 페이지</a:t>
            </a:r>
            <a:r>
              <a:rPr lang="en-US" altLang="ko-KR" sz="1200" dirty="0">
                <a:solidFill>
                  <a:srgbClr val="000000"/>
                </a:solidFill>
                <a:latin typeface="Pretendard Regular"/>
              </a:rPr>
              <a:t> NV18 Component </a:t>
            </a:r>
            <a:r>
              <a:rPr lang="en-US" altLang="ko-KR" sz="1200" dirty="0" err="1">
                <a:solidFill>
                  <a:srgbClr val="000000"/>
                </a:solidFill>
                <a:latin typeface="Pretendard Regular"/>
              </a:rPr>
              <a:t>Authouring</a:t>
            </a:r>
            <a:r>
              <a:rPr lang="en-US" altLang="ko-KR" sz="1200" dirty="0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Pretendard Regular"/>
              </a:rPr>
              <a:t>값 확인 </a:t>
            </a:r>
            <a:endParaRPr lang="en-US" altLang="ko-KR" sz="1200" dirty="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endParaRPr lang="en-US" altLang="ko-KR" sz="1200" dirty="0">
              <a:solidFill>
                <a:srgbClr val="000000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b="1" dirty="0">
                <a:solidFill>
                  <a:srgbClr val="000000"/>
                </a:solidFill>
                <a:highlight>
                  <a:srgbClr val="FFFF00"/>
                </a:highlight>
                <a:latin typeface="Pretendard Regular"/>
              </a:rPr>
              <a:t>AS-IS)</a:t>
            </a:r>
            <a:endParaRPr lang="en-US" altLang="ko-KR" sz="1200" b="1" i="0" u="none" strike="noStrike" dirty="0">
              <a:solidFill>
                <a:srgbClr val="000000"/>
              </a:solidFill>
              <a:highlight>
                <a:srgbClr val="FFFF00"/>
              </a:highlight>
              <a:latin typeface="Pretendard Regular"/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총 페이지 수</a:t>
            </a:r>
            <a:r>
              <a:rPr lang="en-US" altLang="ko-KR" sz="1200" dirty="0"/>
              <a:t>: 90</a:t>
            </a:r>
            <a:r>
              <a:rPr lang="ko-KR" altLang="en-US" sz="1200" dirty="0"/>
              <a:t>개 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페이지당 확인 항목</a:t>
            </a:r>
            <a:r>
              <a:rPr lang="en-US" altLang="ko-KR" sz="1200" dirty="0"/>
              <a:t>: </a:t>
            </a:r>
            <a:r>
              <a:rPr lang="ko-KR" altLang="en-US" sz="1200" dirty="0"/>
              <a:t>최소 </a:t>
            </a:r>
            <a:r>
              <a:rPr lang="en-US" altLang="ko-KR" sz="1200" dirty="0"/>
              <a:t>6</a:t>
            </a:r>
            <a:r>
              <a:rPr lang="ko-KR" altLang="en-US" sz="1200" dirty="0"/>
              <a:t>개 </a:t>
            </a:r>
            <a:r>
              <a:rPr lang="en-US" altLang="ko-KR" sz="1200" dirty="0"/>
              <a:t>~ </a:t>
            </a:r>
            <a:r>
              <a:rPr lang="ko-KR" altLang="en-US" sz="1200" dirty="0"/>
              <a:t> 컬럼 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총 확인 항목</a:t>
            </a:r>
            <a:r>
              <a:rPr lang="en-US" altLang="ko-KR" sz="1200" dirty="0"/>
              <a:t>: 90 × 6 = 540</a:t>
            </a:r>
            <a:r>
              <a:rPr lang="ko-KR" altLang="en-US" sz="1200" dirty="0"/>
              <a:t>개 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소요 시간 </a:t>
            </a:r>
            <a:r>
              <a:rPr lang="en-US" altLang="ko-KR" sz="1200" dirty="0"/>
              <a:t>: 1</a:t>
            </a:r>
            <a:r>
              <a:rPr lang="ko-KR" altLang="en-US" sz="1200" dirty="0"/>
              <a:t> </a:t>
            </a:r>
            <a:r>
              <a:rPr lang="en-US" altLang="ko-KR" sz="1200" dirty="0"/>
              <a:t>Case</a:t>
            </a:r>
            <a:r>
              <a:rPr lang="ko-KR" altLang="en-US" sz="1200" dirty="0"/>
              <a:t> 수행 시 </a:t>
            </a:r>
            <a:r>
              <a:rPr lang="ko-KR" altLang="en-US" sz="1200" dirty="0">
                <a:solidFill>
                  <a:srgbClr val="FF0000"/>
                </a:solidFill>
              </a:rPr>
              <a:t>약 </a:t>
            </a:r>
            <a:r>
              <a:rPr lang="en-US" altLang="ko-KR" sz="1200" dirty="0">
                <a:solidFill>
                  <a:srgbClr val="FF0000"/>
                </a:solidFill>
              </a:rPr>
              <a:t>2~3</a:t>
            </a:r>
            <a:r>
              <a:rPr lang="ko-KR" altLang="en-US" sz="1200" dirty="0">
                <a:solidFill>
                  <a:srgbClr val="FF0000"/>
                </a:solidFill>
              </a:rPr>
              <a:t>분 소요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/>
              <a:t>(</a:t>
            </a:r>
            <a:r>
              <a:rPr lang="ko-KR" altLang="en-US" sz="1200" dirty="0"/>
              <a:t>페이지로드</a:t>
            </a:r>
            <a:r>
              <a:rPr lang="en-US" altLang="ko-KR" sz="1200" dirty="0"/>
              <a:t>, </a:t>
            </a:r>
            <a:r>
              <a:rPr lang="ko-KR" altLang="en-US" sz="1200" dirty="0"/>
              <a:t>컬럼 확인</a:t>
            </a:r>
            <a:r>
              <a:rPr lang="en-US" altLang="ko-KR" sz="1200" dirty="0"/>
              <a:t>, </a:t>
            </a:r>
            <a:r>
              <a:rPr lang="ko-KR" altLang="en-US" sz="1200" dirty="0"/>
              <a:t>결과 기재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실측값</a:t>
            </a:r>
            <a:r>
              <a:rPr lang="en-US" altLang="ko-KR" sz="1200" dirty="0"/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총 소요 시간</a:t>
            </a:r>
            <a:r>
              <a:rPr lang="en-US" altLang="ko-KR" sz="1200" dirty="0"/>
              <a:t>: 540 Case × 2.5</a:t>
            </a:r>
            <a:r>
              <a:rPr lang="ko-KR" altLang="en-US" sz="1200" dirty="0"/>
              <a:t>분 </a:t>
            </a:r>
            <a:r>
              <a:rPr lang="en-US" altLang="ko-KR" sz="1200" dirty="0"/>
              <a:t>= 2,700</a:t>
            </a:r>
            <a:r>
              <a:rPr lang="ko-KR" altLang="en-US" sz="1200" dirty="0"/>
              <a:t>분 </a:t>
            </a:r>
            <a:r>
              <a:rPr lang="en-US" altLang="ko-KR" sz="1200" dirty="0"/>
              <a:t>(45</a:t>
            </a:r>
            <a:r>
              <a:rPr lang="ko-KR" altLang="en-US" sz="1200" dirty="0"/>
              <a:t>시간</a:t>
            </a:r>
            <a:r>
              <a:rPr lang="en-US" altLang="ko-KR" sz="1200" dirty="0"/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dirty="0"/>
              <a:t>QA </a:t>
            </a:r>
            <a:r>
              <a:rPr lang="ko-KR" altLang="en-US" sz="1200" dirty="0"/>
              <a:t>가용인원</a:t>
            </a:r>
            <a:r>
              <a:rPr lang="en-US" altLang="ko-KR" sz="1200" dirty="0"/>
              <a:t>: 6</a:t>
            </a:r>
            <a:r>
              <a:rPr lang="ko-KR" altLang="en-US" sz="1200" dirty="0"/>
              <a:t>명</a:t>
            </a:r>
            <a:endParaRPr lang="en-US" altLang="ko-KR" sz="1200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dirty="0"/>
              <a:t>실제 소요 시간</a:t>
            </a:r>
            <a:r>
              <a:rPr lang="en-US" altLang="ko-KR" sz="1200" dirty="0"/>
              <a:t>: 2,700</a:t>
            </a:r>
            <a:r>
              <a:rPr lang="ko-KR" altLang="en-US" sz="1200" dirty="0"/>
              <a:t>분 </a:t>
            </a:r>
            <a:r>
              <a:rPr lang="en-US" altLang="ko-KR" sz="1200" dirty="0"/>
              <a:t>÷ 6</a:t>
            </a:r>
            <a:r>
              <a:rPr lang="ko-KR" altLang="en-US" sz="1200" dirty="0"/>
              <a:t>명 </a:t>
            </a:r>
            <a:r>
              <a:rPr lang="en-US" altLang="ko-KR" sz="1200" dirty="0"/>
              <a:t>= 450</a:t>
            </a:r>
            <a:r>
              <a:rPr lang="ko-KR" altLang="en-US" sz="1200" dirty="0"/>
              <a:t>분 </a:t>
            </a:r>
            <a:r>
              <a:rPr lang="en-US" altLang="ko-KR" sz="1200" dirty="0"/>
              <a:t>(7.5</a:t>
            </a:r>
            <a:r>
              <a:rPr lang="ko-KR" altLang="en-US" sz="1200" dirty="0"/>
              <a:t>시간</a:t>
            </a:r>
            <a:r>
              <a:rPr lang="en-US" altLang="ko-KR" sz="1200" dirty="0"/>
              <a:t>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b="1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en-US" altLang="ko-KR" sz="1200" b="1" dirty="0">
                <a:highlight>
                  <a:srgbClr val="FFFF00"/>
                </a:highlight>
              </a:rPr>
              <a:t>TO-BE)</a:t>
            </a:r>
          </a:p>
          <a:p>
            <a:pPr>
              <a:lnSpc>
                <a:spcPct val="116199"/>
              </a:lnSpc>
              <a:buClr>
                <a:srgbClr val="000000"/>
              </a:buClr>
            </a:pPr>
            <a:r>
              <a:rPr lang="ko-KR" altLang="en-US" sz="1200" b="1" dirty="0"/>
              <a:t>소요 시간 </a:t>
            </a:r>
            <a:r>
              <a:rPr lang="en-US" altLang="ko-KR" sz="1200" b="1" dirty="0"/>
              <a:t>: 5</a:t>
            </a:r>
            <a:r>
              <a:rPr lang="ko-KR" altLang="en-US" sz="1200" b="1" dirty="0" err="1"/>
              <a:t>분이내</a:t>
            </a:r>
            <a:r>
              <a:rPr lang="ko-KR" altLang="en-US" sz="1200" b="1" dirty="0"/>
              <a:t> </a:t>
            </a:r>
            <a:endParaRPr lang="en-US" altLang="ko-KR" sz="1200" b="1" dirty="0"/>
          </a:p>
          <a:p>
            <a:pPr>
              <a:lnSpc>
                <a:spcPct val="116199"/>
              </a:lnSpc>
              <a:buClr>
                <a:srgbClr val="000000"/>
              </a:buClr>
            </a:pPr>
            <a:endParaRPr lang="en-US" altLang="ko-KR" sz="12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4F0FF71-D20B-F4C9-4D31-93D24DE6E5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9300" y="5651916"/>
            <a:ext cx="5702300" cy="265753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9EBF8B0-CCC8-2371-602B-89C98DB715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1043" y="5680491"/>
            <a:ext cx="4445514" cy="2390389"/>
          </a:xfrm>
          <a:prstGeom prst="rect">
            <a:avLst/>
          </a:prstGeom>
        </p:spPr>
      </p:pic>
      <p:sp>
        <p:nvSpPr>
          <p:cNvPr id="25" name="화살표: 위로 굽음 24">
            <a:extLst>
              <a:ext uri="{FF2B5EF4-FFF2-40B4-BE49-F238E27FC236}">
                <a16:creationId xmlns:a16="http://schemas.microsoft.com/office/drawing/2014/main" id="{68650BB2-86BB-8EB1-E281-D068B86182A8}"/>
              </a:ext>
            </a:extLst>
          </p:cNvPr>
          <p:cNvSpPr/>
          <p:nvPr/>
        </p:nvSpPr>
        <p:spPr>
          <a:xfrm rot="16200000">
            <a:off x="9369685" y="4079951"/>
            <a:ext cx="1218527" cy="2127096"/>
          </a:xfrm>
          <a:prstGeom prst="bentUp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24B557-6142-7640-DC4E-0C3191BAB196}"/>
              </a:ext>
            </a:extLst>
          </p:cNvPr>
          <p:cNvSpPr/>
          <p:nvPr/>
        </p:nvSpPr>
        <p:spPr>
          <a:xfrm>
            <a:off x="7456078" y="8305800"/>
            <a:ext cx="6155147" cy="133857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AS-IS </a:t>
            </a:r>
            <a:r>
              <a:rPr lang="ko-KR" altLang="en-US" dirty="0"/>
              <a:t>총 투입 인력</a:t>
            </a:r>
            <a:r>
              <a:rPr lang="en-US" altLang="ko-KR" dirty="0"/>
              <a:t>: 6</a:t>
            </a:r>
            <a:r>
              <a:rPr lang="ko-KR" altLang="en-US" dirty="0"/>
              <a:t>명 </a:t>
            </a:r>
            <a:r>
              <a:rPr lang="en-US" altLang="ko-KR" dirty="0"/>
              <a:t>× 3.75</a:t>
            </a:r>
            <a:r>
              <a:rPr lang="ko-KR" altLang="en-US" dirty="0"/>
              <a:t>시간 </a:t>
            </a:r>
            <a:r>
              <a:rPr lang="en-US" altLang="ko-KR" dirty="0"/>
              <a:t>= 22.5 m/h </a:t>
            </a:r>
          </a:p>
          <a:p>
            <a:pPr algn="ctr"/>
            <a:r>
              <a:rPr lang="en-US" altLang="ko-KR" dirty="0"/>
              <a:t>TO-BE </a:t>
            </a:r>
            <a:r>
              <a:rPr lang="ko-KR" altLang="en-US" dirty="0"/>
              <a:t>총 투입 인력</a:t>
            </a:r>
            <a:r>
              <a:rPr lang="en-US" altLang="ko-KR" dirty="0"/>
              <a:t>: 1</a:t>
            </a:r>
            <a:r>
              <a:rPr lang="ko-KR" altLang="en-US" dirty="0"/>
              <a:t>명 </a:t>
            </a:r>
            <a:r>
              <a:rPr lang="en-US" altLang="ko-KR" dirty="0"/>
              <a:t>× 0.08</a:t>
            </a:r>
            <a:r>
              <a:rPr lang="ko-KR" altLang="en-US" dirty="0"/>
              <a:t>시간 </a:t>
            </a:r>
            <a:r>
              <a:rPr lang="en-US" altLang="ko-KR" dirty="0"/>
              <a:t>= 0.08 m/h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시간 </a:t>
            </a:r>
            <a:r>
              <a:rPr lang="ko-KR" altLang="en-US" dirty="0" err="1"/>
              <a:t>단축률</a:t>
            </a:r>
            <a:r>
              <a:rPr lang="en-US" altLang="ko-KR" dirty="0"/>
              <a:t>: (1 - 0.08</a:t>
            </a:r>
            <a:r>
              <a:rPr lang="ko-KR" altLang="en-US" dirty="0"/>
              <a:t>시간</a:t>
            </a:r>
            <a:r>
              <a:rPr lang="en-US" altLang="ko-KR" dirty="0"/>
              <a:t>/3.75</a:t>
            </a:r>
            <a:r>
              <a:rPr lang="ko-KR" altLang="en-US" dirty="0"/>
              <a:t>시간</a:t>
            </a:r>
            <a:r>
              <a:rPr lang="en-US" altLang="ko-KR" dirty="0"/>
              <a:t>) × 100 = 97.9%</a:t>
            </a:r>
            <a:r>
              <a:rPr lang="ko-KR" altLang="en-US" dirty="0"/>
              <a:t>시간 단축</a:t>
            </a:r>
          </a:p>
        </p:txBody>
      </p:sp>
    </p:spTree>
    <p:extLst>
      <p:ext uri="{BB962C8B-B14F-4D97-AF65-F5344CB8AC3E}">
        <p14:creationId xmlns:p14="http://schemas.microsoft.com/office/powerpoint/2010/main" val="23165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1297</Words>
  <Application>Microsoft Office PowerPoint</Application>
  <PresentationFormat>사용자 지정</PresentationFormat>
  <Paragraphs>212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Pretendard Regular</vt:lpstr>
      <vt:lpstr>Pretendard SemiBold</vt:lpstr>
      <vt:lpstr>Pretendard Medium</vt:lpstr>
      <vt:lpstr>Pretendard Bold</vt:lpstr>
      <vt:lpstr>Arial</vt:lpstr>
      <vt:lpstr>맑은 고딕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Yunseok Lee</cp:lastModifiedBy>
  <cp:revision>14</cp:revision>
  <dcterms:created xsi:type="dcterms:W3CDTF">2006-08-16T00:00:00Z</dcterms:created>
  <dcterms:modified xsi:type="dcterms:W3CDTF">2025-07-14T10:10:05Z</dcterms:modified>
</cp:coreProperties>
</file>